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5BD7BE8-FB2C-D07C-AC17-00E1BF984450}">
          <p14:sldIdLst>
            <p14:sldId id="256"/>
            <p14:sldId id="257"/>
            <p14:sldId id="258"/>
          </p14:sldIdLst>
        </p14:section>
        <p14:section name="Method" id="{A2F10B9D-FF6B-F3AE-5440-7550DF6B65B3}">
          <p14:sldIdLst>
            <p14:sldId id="259"/>
          </p14:sldIdLst>
        </p14:section>
        <p14:section name="Worked Example" id="{388F4218-ED3E-7C2B-3B9E-71CFD5FCDC23}">
          <p14:sldIdLst>
            <p14:sldId id="260"/>
            <p14:sldId id="261"/>
            <p14:sldId id="262"/>
          </p14:sldIdLst>
        </p14:section>
        <p14:section name="Analysis" id="{C6E87B09-B84D-4AED-38C1-717577042727}">
          <p14:sldIdLst>
            <p14:sldId id="263"/>
          </p14:sldIdLst>
        </p14:section>
        <p14:section name="Wrap-up" id="{70C667C7-7968-5FD7-EE2A-66CA22C96F2B}">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4" d="100"/>
          <a:sy n="94" d="100"/>
        </p:scale>
        <p:origin x="69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F2A44"/>
                </a:solidFill>
                <a:latin typeface="+mn-lt"/>
              </a:defRPr>
            </a:pPr>
            <a:r>
              <a:rPr sz="1200" b="0" i="0" u="none" strike="noStrike">
                <a:solidFill>
                  <a:srgbClr val="1F2A44"/>
                </a:solidFill>
                <a:latin typeface="+mn-lt"/>
              </a:rPr>
              <a:t>Cost of each distinct tour (km)</a:t>
            </a:r>
          </a:p>
        </c:rich>
      </c:tx>
      <c:overlay val="0"/>
    </c:title>
    <c:autoTitleDeleted val="0"/>
    <c:plotArea>
      <c:layout/>
      <c:barChart>
        <c:barDir val="col"/>
        <c:grouping val="clustered"/>
        <c:varyColors val="0"/>
        <c:ser>
          <c:idx val="0"/>
          <c:order val="0"/>
          <c:tx>
            <c:strRef>
              <c:f>Sheet1!$B$1</c:f>
              <c:strCache>
                <c:ptCount val="1"/>
                <c:pt idx="0">
                  <c:v>Tour cost (km)</c:v>
                </c:pt>
              </c:strCache>
            </c:strRef>
          </c:tx>
          <c:spPr>
            <a:solidFill>
              <a:srgbClr val="BFD7EA"/>
            </a:solidFill>
            <a:effectLst/>
          </c:spPr>
          <c:invertIfNegative val="0"/>
          <c:dPt>
            <c:idx val="0"/>
            <c:invertIfNegative val="0"/>
            <c:bubble3D val="0"/>
            <c:extLst>
              <c:ext xmlns:c16="http://schemas.microsoft.com/office/drawing/2014/chart" uri="{C3380CC4-5D6E-409C-BE32-E72D297353CC}">
                <c16:uniqueId val="{00000001-FCFF-4D35-AD8E-199EDE24D966}"/>
              </c:ext>
            </c:extLst>
          </c:dPt>
          <c:dPt>
            <c:idx val="1"/>
            <c:invertIfNegative val="0"/>
            <c:bubble3D val="0"/>
            <c:spPr>
              <a:solidFill>
                <a:srgbClr val="5E8761"/>
              </a:solidFill>
              <a:effectLst/>
            </c:spPr>
            <c:extLst>
              <c:ext xmlns:c16="http://schemas.microsoft.com/office/drawing/2014/chart" uri="{C3380CC4-5D6E-409C-BE32-E72D297353CC}">
                <c16:uniqueId val="{00000003-FCFF-4D35-AD8E-199EDE24D966}"/>
              </c:ext>
            </c:extLst>
          </c:dPt>
          <c:dPt>
            <c:idx val="2"/>
            <c:invertIfNegative val="0"/>
            <c:bubble3D val="0"/>
            <c:extLst>
              <c:ext xmlns:c16="http://schemas.microsoft.com/office/drawing/2014/chart" uri="{C3380CC4-5D6E-409C-BE32-E72D297353CC}">
                <c16:uniqueId val="{00000005-FCFF-4D35-AD8E-199EDE24D966}"/>
              </c:ext>
            </c:extLst>
          </c:dPt>
          <c:dLbls>
            <c:numFmt formatCode="#,##0" sourceLinked="0"/>
            <c:spPr>
              <a:noFill/>
              <a:ln>
                <a:noFill/>
              </a:ln>
              <a:effectLst/>
            </c:spPr>
            <c:txPr>
              <a:bodyPr/>
              <a:lstStyle/>
              <a:p>
                <a:pPr>
                  <a:defRPr sz="1100" b="0" i="0" u="none" strike="noStrike">
                    <a:solidFill>
                      <a:srgbClr val="1F2A44"/>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A→B→C→D→A</c:v>
                </c:pt>
                <c:pt idx="1">
                  <c:v>A→B→D→C→A</c:v>
                </c:pt>
                <c:pt idx="2">
                  <c:v>A→C→B→D→A</c:v>
                </c:pt>
              </c:strCache>
            </c:strRef>
          </c:cat>
          <c:val>
            <c:numRef>
              <c:f>Sheet1!$B$2:$B$4</c:f>
              <c:numCache>
                <c:formatCode>General</c:formatCode>
                <c:ptCount val="3"/>
                <c:pt idx="0">
                  <c:v>95</c:v>
                </c:pt>
                <c:pt idx="1">
                  <c:v>80</c:v>
                </c:pt>
                <c:pt idx="2">
                  <c:v>95</c:v>
                </c:pt>
              </c:numCache>
            </c:numRef>
          </c:val>
          <c:extLst>
            <c:ext xmlns:c16="http://schemas.microsoft.com/office/drawing/2014/chart" uri="{C3380CC4-5D6E-409C-BE32-E72D297353CC}">
              <c16:uniqueId val="{00000006-FCFF-4D35-AD8E-199EDE24D966}"/>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F2A44"/>
                </a:solidFill>
                <a:latin typeface="+mn-lt"/>
              </a:defRPr>
            </a:pPr>
            <a:endParaRPr lang="en-US"/>
          </a:p>
        </c:txPr>
        <c:crossAx val="2094734552"/>
        <c:crosses val="autoZero"/>
        <c:auto val="1"/>
        <c:lblAlgn val="ctr"/>
        <c:lblOffset val="100"/>
        <c:noMultiLvlLbl val="1"/>
      </c:catAx>
      <c:valAx>
        <c:axId val="2094734552"/>
        <c:scaling>
          <c:orientation val="minMax"/>
          <c:max val="12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40323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Today's topic is the Travelling Salesman Problem, one of the most famous problems in the design and analysis of algorithms. A salesman wants the shortest round trip through a set of cities. Simple to state, very hard to solve for large inputs.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Formally, we are given n cities and a distance for every pair. We want the cheapest tour that visits every city once and comes back. The objective is the sum of the edge distances around the cycle. The table shows why this is hard: the number of distinct tours is n minus one factorial over two. At twenty cities there are already about six times ten to the sixteen tours.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keywords. A city is a vertex. An edge weight is the distance between two cities. A Hamiltonian cycle visits every vertex once and returns. The tour cost is the sum of its edge weights. In the symmetric version, distance is the same both ways. And TSP is NP-hard, meaning no known polynomial-time exact algorithm exists.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flowchart shows the exact brute-force method. Read the number of cities and the distance matrix. Fix the starting city, then take the next permutation of the remaining cities. Compute that tour's cost. If it beats the best cost so far, save it. Then check whether any permutations remain; if yes, loop back, otherwise output the best tour and its cost. Because every permutation is tried, the running time is factorial.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our worked example, kept the same through the next slides. Four cities: A, B, C and D. The salesman starts at A. The matrix and the graph carry the same distances: A to B is 10, A to C is 15, A to D is 20, B to C is 35, B to D is 25, and C to D is 30. All weights are non-negative.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dry run. We fix A as the start and try all six orderings of B, C and D. Tour one costs 95, so best is 95. Tour two, A B D C A, costs 10 plus 25 plus 30 plus 15 equals 80, which beats 95, so we update. The remaining tours cost 95, 80 and 95, none strictly less than 80, so the best stays 80. Notice that tours four to six are just reversals of tours two, three and one.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optimal tour is A to B to D to C and back to A, with a total distance of 80 kilometres. On the graph the solid arrows show this tour, and the dashed edges, B to C and A to D, are not used. The chart compares the three distinct tours: 95, 80 and 95. The green bar is the minimum.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brute-force pseudocode matching our flowchart. Its time complexity is O of n factorial and space is linear. A smarter exact method, Held–Karp dynamic programming, uses the recurrence on the right and runs in O of n squared times two to the n, using O of n times two to the n space. Heuristics such as nearest neighbour are quadratic but may miss the optimum.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TSP appears wherever an ordering of stops matters: delivery routes, drilling circuit boards, assembling DNA fragments, picking warehouse orders, scheduling telescope observations and planning trips. To conclude: TSP asks for the cheapest Hamiltonian cycle. Our example had the optimum A, B, D, C, A at 80 kilometres. Brute force is factorial, Held–Karp is exponential but much better, and heuristics give good answers fast for large instances.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watching. In this presentation we defined the Travelling Salesman Problem, solved a four-city example step by step, and compared the complexity of exact and heuristic methods. Questions are welcome.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LAYOUT">
    <p:bg>
      <p:bgPr>
        <a:solidFill>
          <a:srgbClr val="FAF6EE"/>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AYOUT">
    <p:bg>
      <p:bgPr>
        <a:solidFill>
          <a:srgbClr val="FAF6EE"/>
        </a:solidFill>
        <a:effectLst/>
      </p:bgPr>
    </p:bg>
    <p:spTree>
      <p:nvGrpSpPr>
        <p:cNvPr id="1" name=""/>
        <p:cNvGrpSpPr/>
        <p:nvPr/>
      </p:nvGrpSpPr>
      <p:grpSpPr>
        <a:xfrm>
          <a:off x="0" y="0"/>
          <a:ext cx="0" cy="0"/>
          <a:chOff x="0" y="0"/>
          <a:chExt cx="0" cy="0"/>
        </a:xfrm>
      </p:grpSpPr>
      <p:sp>
        <p:nvSpPr>
          <p:cNvPr id="2" name="Text 0"/>
          <p:cNvSpPr/>
          <p:nvPr/>
        </p:nvSpPr>
        <p:spPr>
          <a:xfrm>
            <a:off x="457200" y="4754880"/>
            <a:ext cx="5486400" cy="274320"/>
          </a:xfrm>
          <a:prstGeom prst="rect">
            <a:avLst/>
          </a:prstGeom>
          <a:noFill/>
          <a:ln/>
        </p:spPr>
        <p:txBody>
          <a:bodyPr wrap="square" lIns="0" tIns="0" rIns="0" bIns="0" rtlCol="0" anchor="ctr"/>
          <a:lstStyle/>
          <a:p>
            <a:pPr marL="0" indent="0">
              <a:buNone/>
            </a:pPr>
            <a:r>
              <a:rPr lang="en-US" sz="1000" dirty="0">
                <a:solidFill>
                  <a:schemeClr val="tx2"/>
                </a:solidFill>
              </a:rPr>
              <a:t>Travelling Salesman Problem  ·  Design and Analysis of Algorithms</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48640" y="822960"/>
            <a:ext cx="4389120" cy="2103120"/>
          </a:xfrm>
          <a:prstGeom prst="rect">
            <a:avLst/>
          </a:prstGeom>
          <a:noFill/>
          <a:ln/>
        </p:spPr>
        <p:txBody>
          <a:bodyPr wrap="square" lIns="0" tIns="0" rIns="0" bIns="0" rtlCol="0" anchor="b"/>
          <a:lstStyle/>
          <a:p>
            <a:pPr marL="0" indent="0" algn="l">
              <a:buNone/>
            </a:pPr>
            <a:r>
              <a:rPr lang="en-US" sz="4000" b="1" dirty="0">
                <a:solidFill>
                  <a:schemeClr val="tx1"/>
                </a:solidFill>
              </a:rPr>
              <a:t>Travelling Salesman Problem</a:t>
            </a:r>
            <a:endParaRPr lang="en-US" sz="4000" dirty="0"/>
          </a:p>
        </p:txBody>
      </p:sp>
      <p:sp>
        <p:nvSpPr>
          <p:cNvPr id="3" name="Text 1"/>
          <p:cNvSpPr/>
          <p:nvPr/>
        </p:nvSpPr>
        <p:spPr>
          <a:xfrm>
            <a:off x="548640" y="3108960"/>
            <a:ext cx="4389120" cy="822960"/>
          </a:xfrm>
          <a:prstGeom prst="rect">
            <a:avLst/>
          </a:prstGeom>
          <a:noFill/>
          <a:ln/>
        </p:spPr>
        <p:txBody>
          <a:bodyPr wrap="square" lIns="0" tIns="0" rIns="0" bIns="0" rtlCol="0" anchor="t"/>
          <a:lstStyle/>
          <a:p>
            <a:pPr marL="0" indent="0" algn="l">
              <a:buNone/>
            </a:pPr>
            <a:r>
              <a:rPr lang="en-US" dirty="0"/>
              <a:t>Computer Science &amp; Engineering · Second Year Atharva Band  25070521083  3-B</a:t>
            </a:r>
            <a:endParaRPr lang="en-US" sz="1800" dirty="0"/>
          </a:p>
        </p:txBody>
      </p:sp>
      <p:sp>
        <p:nvSpPr>
          <p:cNvPr id="4" name="Shape 2"/>
          <p:cNvSpPr/>
          <p:nvPr/>
        </p:nvSpPr>
        <p:spPr>
          <a:xfrm>
            <a:off x="6949440" y="1005840"/>
            <a:ext cx="1478398" cy="1074119"/>
          </a:xfrm>
          <a:prstGeom prst="line">
            <a:avLst/>
          </a:prstGeom>
          <a:noFill/>
          <a:ln w="15875">
            <a:solidFill>
              <a:schemeClr val="accent1"/>
            </a:solidFill>
            <a:prstDash val="solid"/>
          </a:ln>
        </p:spPr>
      </p:sp>
      <p:sp>
        <p:nvSpPr>
          <p:cNvPr id="5" name="Shape 3"/>
          <p:cNvSpPr/>
          <p:nvPr/>
        </p:nvSpPr>
        <p:spPr>
          <a:xfrm>
            <a:off x="6949440" y="1005840"/>
            <a:ext cx="913700" cy="2812081"/>
          </a:xfrm>
          <a:prstGeom prst="line">
            <a:avLst/>
          </a:prstGeom>
          <a:noFill/>
          <a:ln w="15875">
            <a:solidFill>
              <a:schemeClr val="accent1"/>
            </a:solidFill>
            <a:prstDash val="solid"/>
          </a:ln>
        </p:spPr>
      </p:sp>
      <p:sp>
        <p:nvSpPr>
          <p:cNvPr id="6" name="Shape 4"/>
          <p:cNvSpPr/>
          <p:nvPr/>
        </p:nvSpPr>
        <p:spPr>
          <a:xfrm flipH="1">
            <a:off x="6035740" y="1005840"/>
            <a:ext cx="913700" cy="2812081"/>
          </a:xfrm>
          <a:prstGeom prst="line">
            <a:avLst/>
          </a:prstGeom>
          <a:noFill/>
          <a:ln w="15875">
            <a:solidFill>
              <a:schemeClr val="accent1"/>
            </a:solidFill>
            <a:prstDash val="solid"/>
          </a:ln>
        </p:spPr>
      </p:sp>
      <p:sp>
        <p:nvSpPr>
          <p:cNvPr id="7" name="Shape 5"/>
          <p:cNvSpPr/>
          <p:nvPr/>
        </p:nvSpPr>
        <p:spPr>
          <a:xfrm flipH="1">
            <a:off x="5471042" y="1005840"/>
            <a:ext cx="1478398" cy="1074119"/>
          </a:xfrm>
          <a:prstGeom prst="line">
            <a:avLst/>
          </a:prstGeom>
          <a:noFill/>
          <a:ln w="15875">
            <a:solidFill>
              <a:schemeClr val="accent1"/>
            </a:solidFill>
            <a:prstDash val="solid"/>
          </a:ln>
        </p:spPr>
      </p:sp>
      <p:sp>
        <p:nvSpPr>
          <p:cNvPr id="8" name="Shape 6"/>
          <p:cNvSpPr/>
          <p:nvPr/>
        </p:nvSpPr>
        <p:spPr>
          <a:xfrm flipH="1">
            <a:off x="7863140" y="2079959"/>
            <a:ext cx="564698" cy="1737961"/>
          </a:xfrm>
          <a:prstGeom prst="line">
            <a:avLst/>
          </a:prstGeom>
          <a:noFill/>
          <a:ln w="15875">
            <a:solidFill>
              <a:schemeClr val="accent1"/>
            </a:solidFill>
            <a:prstDash val="solid"/>
          </a:ln>
        </p:spPr>
      </p:sp>
      <p:sp>
        <p:nvSpPr>
          <p:cNvPr id="9" name="Shape 7"/>
          <p:cNvSpPr/>
          <p:nvPr/>
        </p:nvSpPr>
        <p:spPr>
          <a:xfrm flipH="1">
            <a:off x="6035740" y="2079959"/>
            <a:ext cx="2392099" cy="1737961"/>
          </a:xfrm>
          <a:prstGeom prst="line">
            <a:avLst/>
          </a:prstGeom>
          <a:noFill/>
          <a:ln w="15875">
            <a:solidFill>
              <a:schemeClr val="accent1"/>
            </a:solidFill>
            <a:prstDash val="solid"/>
          </a:ln>
        </p:spPr>
      </p:sp>
      <p:sp>
        <p:nvSpPr>
          <p:cNvPr id="10" name="Shape 8"/>
          <p:cNvSpPr/>
          <p:nvPr/>
        </p:nvSpPr>
        <p:spPr>
          <a:xfrm flipH="1" flipV="1">
            <a:off x="5471042" y="2079959"/>
            <a:ext cx="2956797" cy="0"/>
          </a:xfrm>
          <a:prstGeom prst="line">
            <a:avLst/>
          </a:prstGeom>
          <a:noFill/>
          <a:ln w="15875">
            <a:solidFill>
              <a:schemeClr val="accent1"/>
            </a:solidFill>
            <a:prstDash val="solid"/>
          </a:ln>
        </p:spPr>
      </p:sp>
      <p:sp>
        <p:nvSpPr>
          <p:cNvPr id="11" name="Shape 9"/>
          <p:cNvSpPr/>
          <p:nvPr/>
        </p:nvSpPr>
        <p:spPr>
          <a:xfrm flipH="1">
            <a:off x="6035740" y="3817921"/>
            <a:ext cx="1827401" cy="0"/>
          </a:xfrm>
          <a:prstGeom prst="line">
            <a:avLst/>
          </a:prstGeom>
          <a:noFill/>
          <a:ln w="15875">
            <a:solidFill>
              <a:schemeClr val="accent1"/>
            </a:solidFill>
            <a:prstDash val="solid"/>
          </a:ln>
        </p:spPr>
      </p:sp>
      <p:sp>
        <p:nvSpPr>
          <p:cNvPr id="12" name="Shape 10"/>
          <p:cNvSpPr/>
          <p:nvPr/>
        </p:nvSpPr>
        <p:spPr>
          <a:xfrm flipH="1" flipV="1">
            <a:off x="5471042" y="2079959"/>
            <a:ext cx="2392099" cy="1737961"/>
          </a:xfrm>
          <a:prstGeom prst="line">
            <a:avLst/>
          </a:prstGeom>
          <a:noFill/>
          <a:ln w="15875">
            <a:solidFill>
              <a:schemeClr val="accent1"/>
            </a:solidFill>
            <a:prstDash val="solid"/>
          </a:ln>
        </p:spPr>
      </p:sp>
      <p:sp>
        <p:nvSpPr>
          <p:cNvPr id="13" name="Shape 11"/>
          <p:cNvSpPr/>
          <p:nvPr/>
        </p:nvSpPr>
        <p:spPr>
          <a:xfrm flipH="1" flipV="1">
            <a:off x="5471042" y="2079959"/>
            <a:ext cx="564698" cy="1737961"/>
          </a:xfrm>
          <a:prstGeom prst="line">
            <a:avLst/>
          </a:prstGeom>
          <a:noFill/>
          <a:ln w="15875">
            <a:solidFill>
              <a:schemeClr val="accent1"/>
            </a:solidFill>
            <a:prstDash val="solid"/>
          </a:ln>
        </p:spPr>
      </p:sp>
      <p:sp>
        <p:nvSpPr>
          <p:cNvPr id="14" name="Shape 12"/>
          <p:cNvSpPr/>
          <p:nvPr/>
        </p:nvSpPr>
        <p:spPr>
          <a:xfrm>
            <a:off x="6949440" y="1005840"/>
            <a:ext cx="1478398" cy="1074119"/>
          </a:xfrm>
          <a:prstGeom prst="line">
            <a:avLst/>
          </a:prstGeom>
          <a:noFill/>
          <a:ln w="44450">
            <a:solidFill>
              <a:schemeClr val="accent5"/>
            </a:solidFill>
            <a:prstDash val="solid"/>
          </a:ln>
        </p:spPr>
      </p:sp>
      <p:sp>
        <p:nvSpPr>
          <p:cNvPr id="15" name="Shape 13"/>
          <p:cNvSpPr/>
          <p:nvPr/>
        </p:nvSpPr>
        <p:spPr>
          <a:xfrm flipH="1">
            <a:off x="7863140" y="2079959"/>
            <a:ext cx="564698" cy="1737961"/>
          </a:xfrm>
          <a:prstGeom prst="line">
            <a:avLst/>
          </a:prstGeom>
          <a:noFill/>
          <a:ln w="44450">
            <a:solidFill>
              <a:schemeClr val="accent5"/>
            </a:solidFill>
            <a:prstDash val="solid"/>
          </a:ln>
        </p:spPr>
      </p:sp>
      <p:sp>
        <p:nvSpPr>
          <p:cNvPr id="16" name="Shape 14"/>
          <p:cNvSpPr/>
          <p:nvPr/>
        </p:nvSpPr>
        <p:spPr>
          <a:xfrm flipH="1">
            <a:off x="6035740" y="3817921"/>
            <a:ext cx="1827401" cy="0"/>
          </a:xfrm>
          <a:prstGeom prst="line">
            <a:avLst/>
          </a:prstGeom>
          <a:noFill/>
          <a:ln w="44450">
            <a:solidFill>
              <a:schemeClr val="accent5"/>
            </a:solidFill>
            <a:prstDash val="solid"/>
          </a:ln>
        </p:spPr>
      </p:sp>
      <p:sp>
        <p:nvSpPr>
          <p:cNvPr id="17" name="Shape 15"/>
          <p:cNvSpPr/>
          <p:nvPr/>
        </p:nvSpPr>
        <p:spPr>
          <a:xfrm flipH="1" flipV="1">
            <a:off x="5471042" y="2079959"/>
            <a:ext cx="564698" cy="1737961"/>
          </a:xfrm>
          <a:prstGeom prst="line">
            <a:avLst/>
          </a:prstGeom>
          <a:noFill/>
          <a:ln w="44450">
            <a:solidFill>
              <a:schemeClr val="accent5"/>
            </a:solidFill>
            <a:prstDash val="solid"/>
          </a:ln>
        </p:spPr>
      </p:sp>
      <p:sp>
        <p:nvSpPr>
          <p:cNvPr id="18" name="Shape 16"/>
          <p:cNvSpPr/>
          <p:nvPr/>
        </p:nvSpPr>
        <p:spPr>
          <a:xfrm flipV="1">
            <a:off x="5471042" y="1005840"/>
            <a:ext cx="1478398" cy="1074119"/>
          </a:xfrm>
          <a:prstGeom prst="line">
            <a:avLst/>
          </a:prstGeom>
          <a:noFill/>
          <a:ln w="44450">
            <a:solidFill>
              <a:schemeClr val="accent5"/>
            </a:solidFill>
            <a:prstDash val="solid"/>
          </a:ln>
        </p:spPr>
      </p:sp>
      <p:sp>
        <p:nvSpPr>
          <p:cNvPr id="19" name="Text 17"/>
          <p:cNvSpPr txBox="1"/>
          <p:nvPr/>
        </p:nvSpPr>
        <p:spPr>
          <a:xfrm>
            <a:off x="6675120" y="731520"/>
            <a:ext cx="548640" cy="548640"/>
          </a:xfrm>
          <a:prstGeom prst="ellipse">
            <a:avLst/>
          </a:prstGeom>
          <a:solidFill>
            <a:schemeClr val="accent3"/>
          </a:solidFill>
          <a:ln w="22225">
            <a:solidFill>
              <a:schemeClr val="tx1"/>
            </a:solidFill>
          </a:ln>
        </p:spPr>
        <p:txBody>
          <a:bodyPr wrap="square" lIns="0" tIns="0" rIns="0" bIns="0" rtlCol="0" anchor="ctr"/>
          <a:lstStyle/>
          <a:p>
            <a:pPr marL="0" indent="0" algn="ctr">
              <a:buNone/>
            </a:pPr>
            <a:r>
              <a:rPr lang="en-US" sz="1600" b="1" dirty="0">
                <a:solidFill>
                  <a:schemeClr val="tx1"/>
                </a:solidFill>
              </a:rPr>
              <a:t>A</a:t>
            </a:r>
            <a:endParaRPr lang="en-US" sz="1600" dirty="0"/>
          </a:p>
        </p:txBody>
      </p:sp>
      <p:sp>
        <p:nvSpPr>
          <p:cNvPr id="20" name="Text 18"/>
          <p:cNvSpPr txBox="1"/>
          <p:nvPr/>
        </p:nvSpPr>
        <p:spPr>
          <a:xfrm>
            <a:off x="8153518" y="1805639"/>
            <a:ext cx="548640" cy="548640"/>
          </a:xfrm>
          <a:prstGeom prst="ellipse">
            <a:avLst/>
          </a:prstGeom>
          <a:solidFill>
            <a:schemeClr val="accent1"/>
          </a:solidFill>
          <a:ln w="22225">
            <a:solidFill>
              <a:schemeClr val="tx1"/>
            </a:solidFill>
          </a:ln>
        </p:spPr>
        <p:txBody>
          <a:bodyPr wrap="square" lIns="0" tIns="0" rIns="0" bIns="0" rtlCol="0" anchor="ctr"/>
          <a:lstStyle/>
          <a:p>
            <a:pPr marL="0" indent="0" algn="ctr">
              <a:buNone/>
            </a:pPr>
            <a:r>
              <a:rPr lang="en-US" sz="1600" b="1" dirty="0">
                <a:solidFill>
                  <a:schemeClr val="tx1"/>
                </a:solidFill>
              </a:rPr>
              <a:t>B</a:t>
            </a:r>
            <a:endParaRPr lang="en-US" sz="1600" dirty="0"/>
          </a:p>
        </p:txBody>
      </p:sp>
      <p:sp>
        <p:nvSpPr>
          <p:cNvPr id="21" name="Text 19"/>
          <p:cNvSpPr txBox="1"/>
          <p:nvPr/>
        </p:nvSpPr>
        <p:spPr>
          <a:xfrm>
            <a:off x="7588820" y="3543601"/>
            <a:ext cx="548640" cy="548640"/>
          </a:xfrm>
          <a:prstGeom prst="ellipse">
            <a:avLst/>
          </a:prstGeom>
          <a:solidFill>
            <a:schemeClr val="accent2"/>
          </a:solidFill>
          <a:ln w="22225">
            <a:solidFill>
              <a:schemeClr val="tx1"/>
            </a:solidFill>
          </a:ln>
        </p:spPr>
        <p:txBody>
          <a:bodyPr wrap="square" lIns="0" tIns="0" rIns="0" bIns="0" rtlCol="0" anchor="ctr"/>
          <a:lstStyle/>
          <a:p>
            <a:pPr marL="0" indent="0" algn="ctr">
              <a:buNone/>
            </a:pPr>
            <a:r>
              <a:rPr lang="en-US" sz="1600" b="1" dirty="0">
                <a:solidFill>
                  <a:schemeClr val="tx1"/>
                </a:solidFill>
              </a:rPr>
              <a:t>C</a:t>
            </a:r>
            <a:endParaRPr lang="en-US" sz="1600" dirty="0"/>
          </a:p>
        </p:txBody>
      </p:sp>
      <p:sp>
        <p:nvSpPr>
          <p:cNvPr id="22" name="Text 20"/>
          <p:cNvSpPr txBox="1"/>
          <p:nvPr/>
        </p:nvSpPr>
        <p:spPr>
          <a:xfrm>
            <a:off x="5761420" y="3543601"/>
            <a:ext cx="548640" cy="548640"/>
          </a:xfrm>
          <a:prstGeom prst="ellipse">
            <a:avLst/>
          </a:prstGeom>
          <a:solidFill>
            <a:schemeClr val="accent1"/>
          </a:solidFill>
          <a:ln w="22225">
            <a:solidFill>
              <a:schemeClr val="tx1"/>
            </a:solidFill>
          </a:ln>
        </p:spPr>
        <p:txBody>
          <a:bodyPr wrap="square" lIns="0" tIns="0" rIns="0" bIns="0" rtlCol="0" anchor="ctr"/>
          <a:lstStyle/>
          <a:p>
            <a:pPr marL="0" indent="0" algn="ctr">
              <a:buNone/>
            </a:pPr>
            <a:r>
              <a:rPr lang="en-US" sz="1600" b="1" dirty="0">
                <a:solidFill>
                  <a:schemeClr val="tx1"/>
                </a:solidFill>
              </a:rPr>
              <a:t>D</a:t>
            </a:r>
            <a:endParaRPr lang="en-US" sz="1600" dirty="0"/>
          </a:p>
        </p:txBody>
      </p:sp>
      <p:sp>
        <p:nvSpPr>
          <p:cNvPr id="23" name="Text 21"/>
          <p:cNvSpPr txBox="1"/>
          <p:nvPr/>
        </p:nvSpPr>
        <p:spPr>
          <a:xfrm>
            <a:off x="5196722" y="1805639"/>
            <a:ext cx="548640" cy="548640"/>
          </a:xfrm>
          <a:prstGeom prst="ellipse">
            <a:avLst/>
          </a:prstGeom>
          <a:solidFill>
            <a:schemeClr val="accent2"/>
          </a:solidFill>
          <a:ln w="22225">
            <a:solidFill>
              <a:schemeClr val="tx1"/>
            </a:solidFill>
          </a:ln>
        </p:spPr>
        <p:txBody>
          <a:bodyPr wrap="square" lIns="0" tIns="0" rIns="0" bIns="0" rtlCol="0" anchor="ctr"/>
          <a:lstStyle/>
          <a:p>
            <a:pPr marL="0" indent="0" algn="ctr">
              <a:buNone/>
            </a:pPr>
            <a:r>
              <a:rPr lang="en-US" sz="1600" b="1" dirty="0">
                <a:solidFill>
                  <a:schemeClr val="tx1"/>
                </a:solidFill>
              </a:rPr>
              <a:t>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1"/>
                </a:solidFill>
              </a:rPr>
              <a:t>Introduction</a:t>
            </a:r>
            <a:endParaRPr lang="en-US" sz="3200" dirty="0"/>
          </a:p>
        </p:txBody>
      </p:sp>
      <p:sp>
        <p:nvSpPr>
          <p:cNvPr id="3" name="Text 1"/>
          <p:cNvSpPr txBox="1"/>
          <p:nvPr/>
        </p:nvSpPr>
        <p:spPr>
          <a:xfrm>
            <a:off x="457200" y="1280160"/>
            <a:ext cx="4480560" cy="1188720"/>
          </a:xfrm>
          <a:prstGeom prst="rect">
            <a:avLst/>
          </a:prstGeom>
          <a:noFill/>
          <a:ln/>
        </p:spPr>
        <p:txBody>
          <a:bodyPr wrap="square" lIns="0" tIns="0" rIns="0" bIns="0" rtlCol="0" anchor="t"/>
          <a:lstStyle/>
          <a:p>
            <a:pPr marL="0" indent="0" algn="l">
              <a:buNone/>
            </a:pPr>
            <a:r>
              <a:rPr lang="en-US" sz="1600" dirty="0">
                <a:solidFill>
                  <a:schemeClr val="tx1"/>
                </a:solidFill>
              </a:rPr>
              <a:t>Given n cities and the distance between every pair, find the shortest closed route that visits each city exactly once and returns to the starting city.</a:t>
            </a:r>
            <a:endParaRPr lang="en-US" sz="1600" dirty="0"/>
          </a:p>
        </p:txBody>
      </p:sp>
      <p:sp>
        <p:nvSpPr>
          <p:cNvPr id="4" name="Text 2"/>
          <p:cNvSpPr txBox="1"/>
          <p:nvPr/>
        </p:nvSpPr>
        <p:spPr>
          <a:xfrm>
            <a:off x="457200" y="2606040"/>
            <a:ext cx="4480560" cy="914400"/>
          </a:xfrm>
          <a:prstGeom prst="roundRect">
            <a:avLst>
              <a:gd name="adj" fmla="val 12000"/>
            </a:avLst>
          </a:prstGeom>
          <a:solidFill>
            <a:schemeClr val="accent3"/>
          </a:solidFill>
          <a:ln w="12700">
            <a:solidFill>
              <a:schemeClr val="accent6"/>
            </a:solidFill>
          </a:ln>
        </p:spPr>
        <p:txBody>
          <a:bodyPr wrap="square" lIns="50800" tIns="50800" rIns="50800" bIns="50800" rtlCol="0" anchor="ctr"/>
          <a:lstStyle/>
          <a:p>
            <a:pPr marL="0" indent="0" algn="ctr">
              <a:buNone/>
            </a:pPr>
            <a:endParaRPr lang="en-US" sz="1200" dirty="0"/>
          </a:p>
        </p:txBody>
      </p:sp>
      <p:sp>
        <p:nvSpPr>
          <p:cNvPr id="5" name="Text 3"/>
          <p:cNvSpPr txBox="1"/>
          <p:nvPr/>
        </p:nvSpPr>
        <p:spPr>
          <a:xfrm>
            <a:off x="640080" y="2679192"/>
            <a:ext cx="1828800" cy="228600"/>
          </a:xfrm>
          <a:prstGeom prst="rect">
            <a:avLst/>
          </a:prstGeom>
          <a:noFill/>
          <a:ln/>
        </p:spPr>
        <p:txBody>
          <a:bodyPr wrap="square" lIns="0" tIns="0" rIns="0" bIns="0" rtlCol="0" anchor="t"/>
          <a:lstStyle/>
          <a:p>
            <a:pPr marL="0" indent="0" algn="l">
              <a:buNone/>
            </a:pPr>
            <a:r>
              <a:rPr lang="en-US" sz="1200" b="1" dirty="0">
                <a:solidFill>
                  <a:schemeClr val="accent6"/>
                </a:solidFill>
              </a:rPr>
              <a:t>Objective</a:t>
            </a:r>
            <a:endParaRPr lang="en-US" sz="1200" dirty="0"/>
          </a:p>
        </p:txBody>
      </p:sp>
      <p:sp>
        <p:nvSpPr>
          <p:cNvPr id="6" name="Text 4"/>
          <p:cNvSpPr txBox="1"/>
          <p:nvPr/>
        </p:nvSpPr>
        <p:spPr>
          <a:xfrm>
            <a:off x="640080" y="2926080"/>
            <a:ext cx="4114800" cy="502920"/>
          </a:xfrm>
          <a:prstGeom prst="rect">
            <a:avLst/>
          </a:prstGeom>
          <a:noFill/>
          <a:ln/>
        </p:spPr>
        <p:txBody>
          <a:bodyPr wrap="square" lIns="0" tIns="0" rIns="0" bIns="0" rtlCol="0" anchor="t"/>
          <a:lstStyle/>
          <a:p>
            <a:pPr marL="0" indent="0" algn="l">
              <a:buNone/>
            </a:pPr>
            <a:r>
              <a:rPr lang="en-US" sz="1400" dirty="0">
                <a:solidFill>
                  <a:schemeClr val="tx1"/>
                </a:solidFill>
                <a:latin typeface="Cambria" pitchFamily="34" charset="0"/>
                <a:ea typeface="Cambria" pitchFamily="34" charset="-122"/>
                <a:cs typeface="Cambria" pitchFamily="34" charset="-120"/>
              </a:rPr>
              <a:t>minimise  C(π) = Σ d(π(i), π(i+1)) + d(π(n), π(1))</a:t>
            </a:r>
            <a:endParaRPr lang="en-US" sz="1400" dirty="0"/>
          </a:p>
        </p:txBody>
      </p:sp>
      <p:sp>
        <p:nvSpPr>
          <p:cNvPr id="7" name="Text 5"/>
          <p:cNvSpPr txBox="1"/>
          <p:nvPr/>
        </p:nvSpPr>
        <p:spPr>
          <a:xfrm>
            <a:off x="457200" y="3840480"/>
            <a:ext cx="1097280" cy="411480"/>
          </a:xfrm>
          <a:prstGeom prst="roundRect">
            <a:avLst>
              <a:gd name="adj" fmla="val 44444"/>
            </a:avLst>
          </a:prstGeom>
          <a:solidFill>
            <a:schemeClr val="accent1"/>
          </a:solidFill>
          <a:ln w="12700">
            <a:solidFill>
              <a:schemeClr val="accent4"/>
            </a:solidFill>
          </a:ln>
        </p:spPr>
        <p:txBody>
          <a:bodyPr wrap="square" lIns="50800" tIns="50800" rIns="50800" bIns="50800" rtlCol="0" anchor="ctr"/>
          <a:lstStyle/>
          <a:p>
            <a:pPr marL="0" indent="0" algn="ctr">
              <a:buNone/>
            </a:pPr>
            <a:r>
              <a:rPr lang="en-US" sz="1300" b="1" dirty="0">
                <a:solidFill>
                  <a:schemeClr val="tx1"/>
                </a:solidFill>
              </a:rPr>
              <a:t>NP-hard</a:t>
            </a:r>
            <a:endParaRPr lang="en-US" sz="1300" dirty="0"/>
          </a:p>
        </p:txBody>
      </p:sp>
      <p:sp>
        <p:nvSpPr>
          <p:cNvPr id="8" name="Text 6"/>
          <p:cNvSpPr txBox="1"/>
          <p:nvPr/>
        </p:nvSpPr>
        <p:spPr>
          <a:xfrm>
            <a:off x="1645920" y="3840480"/>
            <a:ext cx="1463040" cy="411480"/>
          </a:xfrm>
          <a:prstGeom prst="roundRect">
            <a:avLst>
              <a:gd name="adj" fmla="val 44444"/>
            </a:avLst>
          </a:prstGeom>
          <a:solidFill>
            <a:schemeClr val="accent2"/>
          </a:solidFill>
          <a:ln w="12700">
            <a:solidFill>
              <a:schemeClr val="accent4"/>
            </a:solidFill>
          </a:ln>
        </p:spPr>
        <p:txBody>
          <a:bodyPr wrap="square" lIns="50800" tIns="50800" rIns="50800" bIns="50800" rtlCol="0" anchor="ctr"/>
          <a:lstStyle/>
          <a:p>
            <a:pPr marL="0" indent="0" algn="ctr">
              <a:buNone/>
            </a:pPr>
            <a:r>
              <a:rPr lang="en-US" sz="1300" b="1" dirty="0">
                <a:solidFill>
                  <a:schemeClr val="tx1"/>
                </a:solidFill>
              </a:rPr>
              <a:t>Optimisation</a:t>
            </a:r>
            <a:endParaRPr lang="en-US" sz="1300" dirty="0"/>
          </a:p>
        </p:txBody>
      </p:sp>
      <p:sp>
        <p:nvSpPr>
          <p:cNvPr id="9" name="Text 7"/>
          <p:cNvSpPr txBox="1"/>
          <p:nvPr/>
        </p:nvSpPr>
        <p:spPr>
          <a:xfrm>
            <a:off x="3200400" y="3840480"/>
            <a:ext cx="1737360" cy="411480"/>
          </a:xfrm>
          <a:prstGeom prst="roundRect">
            <a:avLst>
              <a:gd name="adj" fmla="val 44444"/>
            </a:avLst>
          </a:prstGeom>
          <a:solidFill>
            <a:schemeClr val="accent1"/>
          </a:solidFill>
          <a:ln w="12700">
            <a:solidFill>
              <a:schemeClr val="accent4"/>
            </a:solidFill>
          </a:ln>
        </p:spPr>
        <p:txBody>
          <a:bodyPr wrap="square" lIns="50800" tIns="50800" rIns="50800" bIns="50800" rtlCol="0" anchor="ctr"/>
          <a:lstStyle/>
          <a:p>
            <a:pPr marL="0" indent="0" algn="ctr">
              <a:buNone/>
            </a:pPr>
            <a:r>
              <a:rPr lang="en-US" sz="1300" b="1" dirty="0">
                <a:solidFill>
                  <a:schemeClr val="tx1"/>
                </a:solidFill>
              </a:rPr>
              <a:t>Classic benchmark</a:t>
            </a:r>
            <a:endParaRPr lang="en-US" sz="1300" dirty="0"/>
          </a:p>
        </p:txBody>
      </p:sp>
      <p:sp>
        <p:nvSpPr>
          <p:cNvPr id="10" name="Text 8"/>
          <p:cNvSpPr txBox="1"/>
          <p:nvPr/>
        </p:nvSpPr>
        <p:spPr>
          <a:xfrm>
            <a:off x="5303520" y="1280160"/>
            <a:ext cx="3383280" cy="274320"/>
          </a:xfrm>
          <a:prstGeom prst="rect">
            <a:avLst/>
          </a:prstGeom>
          <a:noFill/>
          <a:ln/>
        </p:spPr>
        <p:txBody>
          <a:bodyPr wrap="square" lIns="0" tIns="0" rIns="0" bIns="0" rtlCol="0" anchor="t"/>
          <a:lstStyle/>
          <a:p>
            <a:pPr marL="0" indent="0" algn="l">
              <a:buNone/>
            </a:pPr>
            <a:r>
              <a:rPr lang="en-US" sz="1400" b="1" dirty="0">
                <a:solidFill>
                  <a:schemeClr val="tx1"/>
                </a:solidFill>
              </a:rPr>
              <a:t>Why it is hard: distinct tours = (n−1)! / 2</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303520" y="1645920"/>
          <a:ext cx="3383280" cy="914400"/>
        </p:xfrm>
        <a:graphic>
          <a:graphicData uri="http://schemas.openxmlformats.org/drawingml/2006/table">
            <a:tbl>
              <a:tblPr/>
              <a:tblGrid>
                <a:gridCol w="109728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tblGrid>
              <a:tr h="438912">
                <a:tc>
                  <a:txBody>
                    <a:bodyPr/>
                    <a:lstStyle/>
                    <a:p>
                      <a:pPr marL="0" indent="0" algn="ctr">
                        <a:buNone/>
                      </a:pPr>
                      <a:r>
                        <a:rPr lang="en-US" sz="1300" b="1" dirty="0">
                          <a:solidFill>
                            <a:schemeClr val="tx1"/>
                          </a:solidFill>
                        </a:rPr>
                        <a:t>Cities n</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1"/>
                    </a:solidFill>
                  </a:tcPr>
                </a:tc>
                <a:tc>
                  <a:txBody>
                    <a:bodyPr/>
                    <a:lstStyle/>
                    <a:p>
                      <a:pPr marL="0" indent="0" algn="ctr">
                        <a:buNone/>
                      </a:pPr>
                      <a:r>
                        <a:rPr lang="en-US" sz="1300" b="1" dirty="0">
                          <a:solidFill>
                            <a:schemeClr val="tx1"/>
                          </a:solidFill>
                        </a:rPr>
                        <a:t>Distinct tours</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438912">
                <a:tc>
                  <a:txBody>
                    <a:bodyPr/>
                    <a:lstStyle/>
                    <a:p>
                      <a:pPr marL="0" indent="0" algn="ctr">
                        <a:buNone/>
                      </a:pPr>
                      <a:r>
                        <a:rPr lang="en-US" sz="1300" dirty="0">
                          <a:solidFill>
                            <a:schemeClr val="tx1"/>
                          </a:solidFill>
                        </a:rPr>
                        <a:t>5</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12</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38912">
                <a:tc>
                  <a:txBody>
                    <a:bodyPr/>
                    <a:lstStyle/>
                    <a:p>
                      <a:pPr marL="0" indent="0" algn="ctr">
                        <a:buNone/>
                      </a:pPr>
                      <a:r>
                        <a:rPr lang="en-US" sz="1300" dirty="0">
                          <a:solidFill>
                            <a:schemeClr val="tx1"/>
                          </a:solidFill>
                        </a:rPr>
                        <a:t>10</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181,440</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38912">
                <a:tc>
                  <a:txBody>
                    <a:bodyPr/>
                    <a:lstStyle/>
                    <a:p>
                      <a:pPr marL="0" indent="0" algn="ctr">
                        <a:buNone/>
                      </a:pPr>
                      <a:r>
                        <a:rPr lang="en-US" sz="1300" dirty="0">
                          <a:solidFill>
                            <a:schemeClr val="tx1"/>
                          </a:solidFill>
                        </a:rPr>
                        <a:t>15</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 4.36 × 10¹⁰</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38912">
                <a:tc>
                  <a:txBody>
                    <a:bodyPr/>
                    <a:lstStyle/>
                    <a:p>
                      <a:pPr marL="0" indent="0" algn="ctr">
                        <a:buNone/>
                      </a:pPr>
                      <a:r>
                        <a:rPr lang="en-US" sz="1300" dirty="0">
                          <a:solidFill>
                            <a:schemeClr val="tx1"/>
                          </a:solidFill>
                        </a:rPr>
                        <a:t>20</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 6.08 × 10¹⁶</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12" name="Text 9"/>
          <p:cNvSpPr txBox="1"/>
          <p:nvPr/>
        </p:nvSpPr>
        <p:spPr>
          <a:xfrm>
            <a:off x="5303520" y="4023360"/>
            <a:ext cx="3383280" cy="548640"/>
          </a:xfrm>
          <a:prstGeom prst="rect">
            <a:avLst/>
          </a:prstGeom>
          <a:noFill/>
          <a:ln/>
        </p:spPr>
        <p:txBody>
          <a:bodyPr wrap="square" lIns="0" tIns="0" rIns="0" bIns="0" rtlCol="0" anchor="t"/>
          <a:lstStyle/>
          <a:p>
            <a:pPr marL="0" indent="0" algn="l">
              <a:buNone/>
            </a:pPr>
            <a:r>
              <a:rPr lang="en-US" sz="1300" i="1" dirty="0">
                <a:solidFill>
                  <a:schemeClr val="tx2"/>
                </a:solidFill>
              </a:rPr>
              <a:t>Growth is factorial, so checking every tour becomes impossible very quickly.</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1"/>
                </a:solidFill>
              </a:rPr>
              <a:t>Key Concepts</a:t>
            </a:r>
            <a:endParaRPr lang="en-US" sz="3200" dirty="0"/>
          </a:p>
        </p:txBody>
      </p:sp>
      <p:sp>
        <p:nvSpPr>
          <p:cNvPr id="3" name="Text 1"/>
          <p:cNvSpPr txBox="1"/>
          <p:nvPr/>
        </p:nvSpPr>
        <p:spPr>
          <a:xfrm>
            <a:off x="457200" y="1280160"/>
            <a:ext cx="2560320" cy="1600200"/>
          </a:xfrm>
          <a:prstGeom prst="roundRect">
            <a:avLst>
              <a:gd name="adj" fmla="val 5714"/>
            </a:avLst>
          </a:prstGeom>
          <a:solidFill>
            <a:schemeClr val="accent1"/>
          </a:solidFill>
          <a:ln w="12700">
            <a:solidFill>
              <a:schemeClr val="accent1"/>
            </a:solidFill>
          </a:ln>
        </p:spPr>
        <p:txBody>
          <a:bodyPr wrap="square" lIns="50800" tIns="50800" rIns="50800" bIns="50800" rtlCol="0" anchor="ctr"/>
          <a:lstStyle/>
          <a:p>
            <a:pPr marL="0" indent="0" algn="ctr">
              <a:buNone/>
            </a:pPr>
            <a:endParaRPr lang="en-US" sz="1200" dirty="0"/>
          </a:p>
        </p:txBody>
      </p:sp>
      <p:sp>
        <p:nvSpPr>
          <p:cNvPr id="4" name="Text 2"/>
          <p:cNvSpPr txBox="1"/>
          <p:nvPr/>
        </p:nvSpPr>
        <p:spPr>
          <a:xfrm>
            <a:off x="594360" y="1417320"/>
            <a:ext cx="365760" cy="365760"/>
          </a:xfrm>
          <a:prstGeom prst="ellipse">
            <a:avLst/>
          </a:prstGeom>
          <a:solidFill>
            <a:schemeClr val="bg1"/>
          </a:solidFill>
          <a:ln w="12700">
            <a:solidFill>
              <a:schemeClr val="tx1"/>
            </a:solidFill>
          </a:ln>
        </p:spPr>
        <p:txBody>
          <a:bodyPr wrap="square" lIns="0" tIns="0" rIns="0" bIns="0" rtlCol="0" anchor="ctr"/>
          <a:lstStyle/>
          <a:p>
            <a:pPr marL="0" indent="0" algn="ctr">
              <a:buNone/>
            </a:pPr>
            <a:r>
              <a:rPr lang="en-US" sz="1400" b="1" dirty="0">
                <a:solidFill>
                  <a:schemeClr val="tx1"/>
                </a:solidFill>
              </a:rPr>
              <a:t>1</a:t>
            </a:r>
            <a:endParaRPr lang="en-US" sz="1400" dirty="0"/>
          </a:p>
        </p:txBody>
      </p:sp>
      <p:sp>
        <p:nvSpPr>
          <p:cNvPr id="5" name="Text 3"/>
          <p:cNvSpPr txBox="1"/>
          <p:nvPr/>
        </p:nvSpPr>
        <p:spPr>
          <a:xfrm>
            <a:off x="1051560" y="1417320"/>
            <a:ext cx="1874520" cy="365760"/>
          </a:xfrm>
          <a:prstGeom prst="rect">
            <a:avLst/>
          </a:prstGeom>
          <a:noFill/>
          <a:ln/>
        </p:spPr>
        <p:txBody>
          <a:bodyPr wrap="square" lIns="0" tIns="0" rIns="0" bIns="0" rtlCol="0" anchor="ctr"/>
          <a:lstStyle/>
          <a:p>
            <a:pPr marL="0" indent="0" algn="l">
              <a:buNone/>
            </a:pPr>
            <a:r>
              <a:rPr lang="en-US" sz="1600" b="1" dirty="0">
                <a:solidFill>
                  <a:schemeClr val="tx1"/>
                </a:solidFill>
              </a:rPr>
              <a:t>City (vertex)</a:t>
            </a:r>
            <a:endParaRPr lang="en-US" sz="1600" dirty="0"/>
          </a:p>
        </p:txBody>
      </p:sp>
      <p:sp>
        <p:nvSpPr>
          <p:cNvPr id="6" name="Text 4"/>
          <p:cNvSpPr txBox="1"/>
          <p:nvPr/>
        </p:nvSpPr>
        <p:spPr>
          <a:xfrm>
            <a:off x="594360" y="1920240"/>
            <a:ext cx="2286000" cy="868680"/>
          </a:xfrm>
          <a:prstGeom prst="rect">
            <a:avLst/>
          </a:prstGeom>
          <a:noFill/>
          <a:ln/>
        </p:spPr>
        <p:txBody>
          <a:bodyPr wrap="square" lIns="0" tIns="0" rIns="0" bIns="0" rtlCol="0" anchor="t"/>
          <a:lstStyle/>
          <a:p>
            <a:pPr marL="0" indent="0" algn="l">
              <a:buNone/>
            </a:pPr>
            <a:r>
              <a:rPr lang="en-US" sz="1400" dirty="0">
                <a:solidFill>
                  <a:schemeClr val="tx1"/>
                </a:solidFill>
              </a:rPr>
              <a:t>A node that must be visited exactly once.</a:t>
            </a:r>
            <a:endParaRPr lang="en-US" sz="1400" dirty="0"/>
          </a:p>
        </p:txBody>
      </p:sp>
      <p:sp>
        <p:nvSpPr>
          <p:cNvPr id="7" name="Text 5"/>
          <p:cNvSpPr txBox="1"/>
          <p:nvPr/>
        </p:nvSpPr>
        <p:spPr>
          <a:xfrm>
            <a:off x="3291840" y="1280160"/>
            <a:ext cx="2560320" cy="1600200"/>
          </a:xfrm>
          <a:prstGeom prst="roundRect">
            <a:avLst>
              <a:gd name="adj" fmla="val 5714"/>
            </a:avLst>
          </a:prstGeom>
          <a:solidFill>
            <a:schemeClr val="accent2"/>
          </a:solidFill>
          <a:ln w="12700">
            <a:solidFill>
              <a:schemeClr val="accent2"/>
            </a:solidFill>
          </a:ln>
        </p:spPr>
        <p:txBody>
          <a:bodyPr wrap="square" lIns="50800" tIns="50800" rIns="50800" bIns="50800" rtlCol="0" anchor="ctr"/>
          <a:lstStyle/>
          <a:p>
            <a:pPr marL="0" indent="0" algn="ctr">
              <a:buNone/>
            </a:pPr>
            <a:endParaRPr lang="en-US" sz="1200" dirty="0"/>
          </a:p>
        </p:txBody>
      </p:sp>
      <p:sp>
        <p:nvSpPr>
          <p:cNvPr id="8" name="Text 6"/>
          <p:cNvSpPr txBox="1"/>
          <p:nvPr/>
        </p:nvSpPr>
        <p:spPr>
          <a:xfrm>
            <a:off x="3429000" y="1417320"/>
            <a:ext cx="365760" cy="365760"/>
          </a:xfrm>
          <a:prstGeom prst="ellipse">
            <a:avLst/>
          </a:prstGeom>
          <a:solidFill>
            <a:schemeClr val="bg1"/>
          </a:solidFill>
          <a:ln w="12700">
            <a:solidFill>
              <a:schemeClr val="tx1"/>
            </a:solidFill>
          </a:ln>
        </p:spPr>
        <p:txBody>
          <a:bodyPr wrap="square" lIns="0" tIns="0" rIns="0" bIns="0" rtlCol="0" anchor="ctr"/>
          <a:lstStyle/>
          <a:p>
            <a:pPr marL="0" indent="0" algn="ctr">
              <a:buNone/>
            </a:pPr>
            <a:r>
              <a:rPr lang="en-US" sz="1400" b="1" dirty="0">
                <a:solidFill>
                  <a:schemeClr val="tx1"/>
                </a:solidFill>
              </a:rPr>
              <a:t>2</a:t>
            </a:r>
            <a:endParaRPr lang="en-US" sz="1400" dirty="0"/>
          </a:p>
        </p:txBody>
      </p:sp>
      <p:sp>
        <p:nvSpPr>
          <p:cNvPr id="9" name="Text 7"/>
          <p:cNvSpPr txBox="1"/>
          <p:nvPr/>
        </p:nvSpPr>
        <p:spPr>
          <a:xfrm>
            <a:off x="3886200" y="1417320"/>
            <a:ext cx="1874520" cy="365760"/>
          </a:xfrm>
          <a:prstGeom prst="rect">
            <a:avLst/>
          </a:prstGeom>
          <a:noFill/>
          <a:ln/>
        </p:spPr>
        <p:txBody>
          <a:bodyPr wrap="square" lIns="0" tIns="0" rIns="0" bIns="0" rtlCol="0" anchor="ctr"/>
          <a:lstStyle/>
          <a:p>
            <a:pPr marL="0" indent="0" algn="l">
              <a:buNone/>
            </a:pPr>
            <a:r>
              <a:rPr lang="en-US" sz="1600" b="1" dirty="0">
                <a:solidFill>
                  <a:schemeClr val="tx1"/>
                </a:solidFill>
              </a:rPr>
              <a:t>Edge weight d(i, j)</a:t>
            </a:r>
            <a:endParaRPr lang="en-US" sz="1600" dirty="0"/>
          </a:p>
        </p:txBody>
      </p:sp>
      <p:sp>
        <p:nvSpPr>
          <p:cNvPr id="10" name="Text 8"/>
          <p:cNvSpPr txBox="1"/>
          <p:nvPr/>
        </p:nvSpPr>
        <p:spPr>
          <a:xfrm>
            <a:off x="3429000" y="1920240"/>
            <a:ext cx="2286000" cy="868680"/>
          </a:xfrm>
          <a:prstGeom prst="rect">
            <a:avLst/>
          </a:prstGeom>
          <a:noFill/>
          <a:ln/>
        </p:spPr>
        <p:txBody>
          <a:bodyPr wrap="square" lIns="0" tIns="0" rIns="0" bIns="0" rtlCol="0" anchor="t"/>
          <a:lstStyle/>
          <a:p>
            <a:pPr marL="0" indent="0" algn="l">
              <a:buNone/>
            </a:pPr>
            <a:r>
              <a:rPr lang="en-US" sz="1400" dirty="0">
                <a:solidFill>
                  <a:schemeClr val="tx1"/>
                </a:solidFill>
              </a:rPr>
              <a:t>Distance or cost of travelling between two cities.</a:t>
            </a:r>
            <a:endParaRPr lang="en-US" sz="1400" dirty="0"/>
          </a:p>
        </p:txBody>
      </p:sp>
      <p:sp>
        <p:nvSpPr>
          <p:cNvPr id="11" name="Text 9"/>
          <p:cNvSpPr txBox="1"/>
          <p:nvPr/>
        </p:nvSpPr>
        <p:spPr>
          <a:xfrm>
            <a:off x="6126480" y="1280160"/>
            <a:ext cx="2560320" cy="1600200"/>
          </a:xfrm>
          <a:prstGeom prst="roundRect">
            <a:avLst>
              <a:gd name="adj" fmla="val 5714"/>
            </a:avLst>
          </a:prstGeom>
          <a:solidFill>
            <a:schemeClr val="accent3"/>
          </a:solidFill>
          <a:ln w="12700">
            <a:solidFill>
              <a:schemeClr val="accent3"/>
            </a:solidFill>
          </a:ln>
        </p:spPr>
        <p:txBody>
          <a:bodyPr wrap="square" lIns="50800" tIns="50800" rIns="50800" bIns="50800" rtlCol="0" anchor="ctr"/>
          <a:lstStyle/>
          <a:p>
            <a:pPr marL="0" indent="0" algn="ctr">
              <a:buNone/>
            </a:pPr>
            <a:endParaRPr lang="en-US" sz="1200" dirty="0"/>
          </a:p>
        </p:txBody>
      </p:sp>
      <p:sp>
        <p:nvSpPr>
          <p:cNvPr id="12" name="Text 10"/>
          <p:cNvSpPr txBox="1"/>
          <p:nvPr/>
        </p:nvSpPr>
        <p:spPr>
          <a:xfrm>
            <a:off x="6263640" y="1417320"/>
            <a:ext cx="365760" cy="365760"/>
          </a:xfrm>
          <a:prstGeom prst="ellipse">
            <a:avLst/>
          </a:prstGeom>
          <a:solidFill>
            <a:schemeClr val="bg1"/>
          </a:solidFill>
          <a:ln w="12700">
            <a:solidFill>
              <a:schemeClr val="tx1"/>
            </a:solidFill>
          </a:ln>
        </p:spPr>
        <p:txBody>
          <a:bodyPr wrap="square" lIns="0" tIns="0" rIns="0" bIns="0" rtlCol="0" anchor="ctr"/>
          <a:lstStyle/>
          <a:p>
            <a:pPr marL="0" indent="0" algn="ctr">
              <a:buNone/>
            </a:pPr>
            <a:r>
              <a:rPr lang="en-US" sz="1400" b="1" dirty="0">
                <a:solidFill>
                  <a:schemeClr val="tx1"/>
                </a:solidFill>
              </a:rPr>
              <a:t>3</a:t>
            </a:r>
            <a:endParaRPr lang="en-US" sz="1400" dirty="0"/>
          </a:p>
        </p:txBody>
      </p:sp>
      <p:sp>
        <p:nvSpPr>
          <p:cNvPr id="13" name="Text 11"/>
          <p:cNvSpPr txBox="1"/>
          <p:nvPr/>
        </p:nvSpPr>
        <p:spPr>
          <a:xfrm>
            <a:off x="6720840" y="1417320"/>
            <a:ext cx="1874520" cy="365760"/>
          </a:xfrm>
          <a:prstGeom prst="rect">
            <a:avLst/>
          </a:prstGeom>
          <a:noFill/>
          <a:ln/>
        </p:spPr>
        <p:txBody>
          <a:bodyPr wrap="square" lIns="0" tIns="0" rIns="0" bIns="0" rtlCol="0" anchor="ctr"/>
          <a:lstStyle/>
          <a:p>
            <a:pPr marL="0" indent="0" algn="l">
              <a:buNone/>
            </a:pPr>
            <a:r>
              <a:rPr lang="en-US" sz="1600" b="1" dirty="0">
                <a:solidFill>
                  <a:schemeClr val="tx1"/>
                </a:solidFill>
              </a:rPr>
              <a:t>Hamiltonian cycle</a:t>
            </a:r>
            <a:endParaRPr lang="en-US" sz="1600" dirty="0"/>
          </a:p>
        </p:txBody>
      </p:sp>
      <p:sp>
        <p:nvSpPr>
          <p:cNvPr id="14" name="Text 12"/>
          <p:cNvSpPr txBox="1"/>
          <p:nvPr/>
        </p:nvSpPr>
        <p:spPr>
          <a:xfrm>
            <a:off x="6263640" y="1920240"/>
            <a:ext cx="2286000" cy="868680"/>
          </a:xfrm>
          <a:prstGeom prst="rect">
            <a:avLst/>
          </a:prstGeom>
          <a:noFill/>
          <a:ln/>
        </p:spPr>
        <p:txBody>
          <a:bodyPr wrap="square" lIns="0" tIns="0" rIns="0" bIns="0" rtlCol="0" anchor="t"/>
          <a:lstStyle/>
          <a:p>
            <a:pPr marL="0" indent="0" algn="l">
              <a:buNone/>
            </a:pPr>
            <a:r>
              <a:rPr lang="en-US" sz="1400" dirty="0">
                <a:solidFill>
                  <a:schemeClr val="tx1"/>
                </a:solidFill>
              </a:rPr>
              <a:t>A closed path that visits every vertex exactly once.</a:t>
            </a:r>
            <a:endParaRPr lang="en-US" sz="1400" dirty="0"/>
          </a:p>
        </p:txBody>
      </p:sp>
      <p:sp>
        <p:nvSpPr>
          <p:cNvPr id="15" name="Text 13"/>
          <p:cNvSpPr txBox="1"/>
          <p:nvPr/>
        </p:nvSpPr>
        <p:spPr>
          <a:xfrm>
            <a:off x="457200" y="3017520"/>
            <a:ext cx="2560320" cy="1600200"/>
          </a:xfrm>
          <a:prstGeom prst="roundRect">
            <a:avLst>
              <a:gd name="adj" fmla="val 5714"/>
            </a:avLst>
          </a:prstGeom>
          <a:solidFill>
            <a:schemeClr val="accent2"/>
          </a:solidFill>
          <a:ln w="12700">
            <a:solidFill>
              <a:schemeClr val="accent2"/>
            </a:solidFill>
          </a:ln>
        </p:spPr>
        <p:txBody>
          <a:bodyPr wrap="square" lIns="50800" tIns="50800" rIns="50800" bIns="50800" rtlCol="0" anchor="ctr"/>
          <a:lstStyle/>
          <a:p>
            <a:pPr marL="0" indent="0" algn="ctr">
              <a:buNone/>
            </a:pPr>
            <a:endParaRPr lang="en-US" sz="1200" dirty="0"/>
          </a:p>
        </p:txBody>
      </p:sp>
      <p:sp>
        <p:nvSpPr>
          <p:cNvPr id="16" name="Text 14"/>
          <p:cNvSpPr txBox="1"/>
          <p:nvPr/>
        </p:nvSpPr>
        <p:spPr>
          <a:xfrm>
            <a:off x="594360" y="3154680"/>
            <a:ext cx="365760" cy="365760"/>
          </a:xfrm>
          <a:prstGeom prst="ellipse">
            <a:avLst/>
          </a:prstGeom>
          <a:solidFill>
            <a:schemeClr val="bg1"/>
          </a:solidFill>
          <a:ln w="12700">
            <a:solidFill>
              <a:schemeClr val="tx1"/>
            </a:solidFill>
          </a:ln>
        </p:spPr>
        <p:txBody>
          <a:bodyPr wrap="square" lIns="0" tIns="0" rIns="0" bIns="0" rtlCol="0" anchor="ctr"/>
          <a:lstStyle/>
          <a:p>
            <a:pPr marL="0" indent="0" algn="ctr">
              <a:buNone/>
            </a:pPr>
            <a:r>
              <a:rPr lang="en-US" sz="1400" b="1" dirty="0">
                <a:solidFill>
                  <a:schemeClr val="tx1"/>
                </a:solidFill>
              </a:rPr>
              <a:t>4</a:t>
            </a:r>
            <a:endParaRPr lang="en-US" sz="1400" dirty="0"/>
          </a:p>
        </p:txBody>
      </p:sp>
      <p:sp>
        <p:nvSpPr>
          <p:cNvPr id="17" name="Text 15"/>
          <p:cNvSpPr txBox="1"/>
          <p:nvPr/>
        </p:nvSpPr>
        <p:spPr>
          <a:xfrm>
            <a:off x="1051560" y="3154680"/>
            <a:ext cx="1874520" cy="365760"/>
          </a:xfrm>
          <a:prstGeom prst="rect">
            <a:avLst/>
          </a:prstGeom>
          <a:noFill/>
          <a:ln/>
        </p:spPr>
        <p:txBody>
          <a:bodyPr wrap="square" lIns="0" tIns="0" rIns="0" bIns="0" rtlCol="0" anchor="ctr"/>
          <a:lstStyle/>
          <a:p>
            <a:pPr marL="0" indent="0" algn="l">
              <a:buNone/>
            </a:pPr>
            <a:r>
              <a:rPr lang="en-US" sz="1600" b="1" dirty="0">
                <a:solidFill>
                  <a:schemeClr val="tx1"/>
                </a:solidFill>
              </a:rPr>
              <a:t>Tour cost</a:t>
            </a:r>
            <a:endParaRPr lang="en-US" sz="1600" dirty="0"/>
          </a:p>
        </p:txBody>
      </p:sp>
      <p:sp>
        <p:nvSpPr>
          <p:cNvPr id="18" name="Text 16"/>
          <p:cNvSpPr txBox="1"/>
          <p:nvPr/>
        </p:nvSpPr>
        <p:spPr>
          <a:xfrm>
            <a:off x="594360" y="3657600"/>
            <a:ext cx="2286000" cy="868680"/>
          </a:xfrm>
          <a:prstGeom prst="rect">
            <a:avLst/>
          </a:prstGeom>
          <a:noFill/>
          <a:ln/>
        </p:spPr>
        <p:txBody>
          <a:bodyPr wrap="square" lIns="0" tIns="0" rIns="0" bIns="0" rtlCol="0" anchor="t"/>
          <a:lstStyle/>
          <a:p>
            <a:pPr marL="0" indent="0" algn="l">
              <a:buNone/>
            </a:pPr>
            <a:r>
              <a:rPr lang="en-US" sz="1400" dirty="0">
                <a:solidFill>
                  <a:schemeClr val="tx1"/>
                </a:solidFill>
              </a:rPr>
              <a:t>Sum of the edge weights along the whole cycle.</a:t>
            </a:r>
            <a:endParaRPr lang="en-US" sz="1400" dirty="0"/>
          </a:p>
        </p:txBody>
      </p:sp>
      <p:sp>
        <p:nvSpPr>
          <p:cNvPr id="19" name="Text 17"/>
          <p:cNvSpPr txBox="1"/>
          <p:nvPr/>
        </p:nvSpPr>
        <p:spPr>
          <a:xfrm>
            <a:off x="3291840" y="3017520"/>
            <a:ext cx="2560320" cy="1600200"/>
          </a:xfrm>
          <a:prstGeom prst="roundRect">
            <a:avLst>
              <a:gd name="adj" fmla="val 5714"/>
            </a:avLst>
          </a:prstGeom>
          <a:solidFill>
            <a:schemeClr val="accent3"/>
          </a:solidFill>
          <a:ln w="12700">
            <a:solidFill>
              <a:schemeClr val="accent3"/>
            </a:solidFill>
          </a:ln>
        </p:spPr>
        <p:txBody>
          <a:bodyPr wrap="square" lIns="50800" tIns="50800" rIns="50800" bIns="50800" rtlCol="0" anchor="ctr"/>
          <a:lstStyle/>
          <a:p>
            <a:pPr marL="0" indent="0" algn="ctr">
              <a:buNone/>
            </a:pPr>
            <a:endParaRPr lang="en-US" sz="1200" dirty="0"/>
          </a:p>
        </p:txBody>
      </p:sp>
      <p:sp>
        <p:nvSpPr>
          <p:cNvPr id="20" name="Text 18"/>
          <p:cNvSpPr txBox="1"/>
          <p:nvPr/>
        </p:nvSpPr>
        <p:spPr>
          <a:xfrm>
            <a:off x="3429000" y="3154680"/>
            <a:ext cx="365760" cy="365760"/>
          </a:xfrm>
          <a:prstGeom prst="ellipse">
            <a:avLst/>
          </a:prstGeom>
          <a:solidFill>
            <a:schemeClr val="bg1"/>
          </a:solidFill>
          <a:ln w="12700">
            <a:solidFill>
              <a:schemeClr val="tx1"/>
            </a:solidFill>
          </a:ln>
        </p:spPr>
        <p:txBody>
          <a:bodyPr wrap="square" lIns="0" tIns="0" rIns="0" bIns="0" rtlCol="0" anchor="ctr"/>
          <a:lstStyle/>
          <a:p>
            <a:pPr marL="0" indent="0" algn="ctr">
              <a:buNone/>
            </a:pPr>
            <a:r>
              <a:rPr lang="en-US" sz="1400" b="1" dirty="0">
                <a:solidFill>
                  <a:schemeClr val="tx1"/>
                </a:solidFill>
              </a:rPr>
              <a:t>5</a:t>
            </a:r>
            <a:endParaRPr lang="en-US" sz="1400" dirty="0"/>
          </a:p>
        </p:txBody>
      </p:sp>
      <p:sp>
        <p:nvSpPr>
          <p:cNvPr id="21" name="Text 19"/>
          <p:cNvSpPr txBox="1"/>
          <p:nvPr/>
        </p:nvSpPr>
        <p:spPr>
          <a:xfrm>
            <a:off x="3886200" y="3154680"/>
            <a:ext cx="1874520" cy="365760"/>
          </a:xfrm>
          <a:prstGeom prst="rect">
            <a:avLst/>
          </a:prstGeom>
          <a:noFill/>
          <a:ln/>
        </p:spPr>
        <p:txBody>
          <a:bodyPr wrap="square" lIns="0" tIns="0" rIns="0" bIns="0" rtlCol="0" anchor="ctr"/>
          <a:lstStyle/>
          <a:p>
            <a:pPr marL="0" indent="0" algn="l">
              <a:buNone/>
            </a:pPr>
            <a:r>
              <a:rPr lang="en-US" sz="1600" b="1" dirty="0">
                <a:solidFill>
                  <a:schemeClr val="tx1"/>
                </a:solidFill>
              </a:rPr>
              <a:t>Symmetric TSP</a:t>
            </a:r>
            <a:endParaRPr lang="en-US" sz="1600" dirty="0"/>
          </a:p>
        </p:txBody>
      </p:sp>
      <p:sp>
        <p:nvSpPr>
          <p:cNvPr id="22" name="Text 20"/>
          <p:cNvSpPr txBox="1"/>
          <p:nvPr/>
        </p:nvSpPr>
        <p:spPr>
          <a:xfrm>
            <a:off x="3429000" y="3657600"/>
            <a:ext cx="2286000" cy="868680"/>
          </a:xfrm>
          <a:prstGeom prst="rect">
            <a:avLst/>
          </a:prstGeom>
          <a:noFill/>
          <a:ln/>
        </p:spPr>
        <p:txBody>
          <a:bodyPr wrap="square" lIns="0" tIns="0" rIns="0" bIns="0" rtlCol="0" anchor="t"/>
          <a:lstStyle/>
          <a:p>
            <a:pPr marL="0" indent="0" algn="l">
              <a:buNone/>
            </a:pPr>
            <a:r>
              <a:rPr lang="en-US" sz="1400" dirty="0">
                <a:solidFill>
                  <a:schemeClr val="tx1"/>
                </a:solidFill>
              </a:rPr>
              <a:t>d(i, j) = d(j, i), so a tour and its reverse cost the same.</a:t>
            </a:r>
            <a:endParaRPr lang="en-US" sz="1400" dirty="0"/>
          </a:p>
        </p:txBody>
      </p:sp>
      <p:sp>
        <p:nvSpPr>
          <p:cNvPr id="23" name="Text 21"/>
          <p:cNvSpPr txBox="1"/>
          <p:nvPr/>
        </p:nvSpPr>
        <p:spPr>
          <a:xfrm>
            <a:off x="6126480" y="3017520"/>
            <a:ext cx="2560320" cy="1600200"/>
          </a:xfrm>
          <a:prstGeom prst="roundRect">
            <a:avLst>
              <a:gd name="adj" fmla="val 5714"/>
            </a:avLst>
          </a:prstGeom>
          <a:solidFill>
            <a:schemeClr val="accent1"/>
          </a:solidFill>
          <a:ln w="12700">
            <a:solidFill>
              <a:schemeClr val="accent1"/>
            </a:solidFill>
          </a:ln>
        </p:spPr>
        <p:txBody>
          <a:bodyPr wrap="square" lIns="50800" tIns="50800" rIns="50800" bIns="50800" rtlCol="0" anchor="ctr"/>
          <a:lstStyle/>
          <a:p>
            <a:pPr marL="0" indent="0" algn="ctr">
              <a:buNone/>
            </a:pPr>
            <a:endParaRPr lang="en-US" sz="1200" dirty="0"/>
          </a:p>
        </p:txBody>
      </p:sp>
      <p:sp>
        <p:nvSpPr>
          <p:cNvPr id="24" name="Text 22"/>
          <p:cNvSpPr txBox="1"/>
          <p:nvPr/>
        </p:nvSpPr>
        <p:spPr>
          <a:xfrm>
            <a:off x="6263640" y="3154680"/>
            <a:ext cx="365760" cy="365760"/>
          </a:xfrm>
          <a:prstGeom prst="ellipse">
            <a:avLst/>
          </a:prstGeom>
          <a:solidFill>
            <a:schemeClr val="bg1"/>
          </a:solidFill>
          <a:ln w="12700">
            <a:solidFill>
              <a:schemeClr val="tx1"/>
            </a:solidFill>
          </a:ln>
        </p:spPr>
        <p:txBody>
          <a:bodyPr wrap="square" lIns="0" tIns="0" rIns="0" bIns="0" rtlCol="0" anchor="ctr"/>
          <a:lstStyle/>
          <a:p>
            <a:pPr marL="0" indent="0" algn="ctr">
              <a:buNone/>
            </a:pPr>
            <a:r>
              <a:rPr lang="en-US" sz="1400" b="1" dirty="0">
                <a:solidFill>
                  <a:schemeClr val="tx1"/>
                </a:solidFill>
              </a:rPr>
              <a:t>6</a:t>
            </a:r>
            <a:endParaRPr lang="en-US" sz="1400" dirty="0"/>
          </a:p>
        </p:txBody>
      </p:sp>
      <p:sp>
        <p:nvSpPr>
          <p:cNvPr id="25" name="Text 23"/>
          <p:cNvSpPr txBox="1"/>
          <p:nvPr/>
        </p:nvSpPr>
        <p:spPr>
          <a:xfrm>
            <a:off x="6720840" y="3154680"/>
            <a:ext cx="1874520" cy="365760"/>
          </a:xfrm>
          <a:prstGeom prst="rect">
            <a:avLst/>
          </a:prstGeom>
          <a:noFill/>
          <a:ln/>
        </p:spPr>
        <p:txBody>
          <a:bodyPr wrap="square" lIns="0" tIns="0" rIns="0" bIns="0" rtlCol="0" anchor="ctr"/>
          <a:lstStyle/>
          <a:p>
            <a:pPr marL="0" indent="0" algn="l">
              <a:buNone/>
            </a:pPr>
            <a:r>
              <a:rPr lang="en-US" sz="1600" b="1" dirty="0">
                <a:solidFill>
                  <a:schemeClr val="tx1"/>
                </a:solidFill>
              </a:rPr>
              <a:t>NP-hard</a:t>
            </a:r>
            <a:endParaRPr lang="en-US" sz="1600" dirty="0"/>
          </a:p>
        </p:txBody>
      </p:sp>
      <p:sp>
        <p:nvSpPr>
          <p:cNvPr id="26" name="Text 24"/>
          <p:cNvSpPr txBox="1"/>
          <p:nvPr/>
        </p:nvSpPr>
        <p:spPr>
          <a:xfrm>
            <a:off x="6263640" y="3657600"/>
            <a:ext cx="2286000" cy="868680"/>
          </a:xfrm>
          <a:prstGeom prst="rect">
            <a:avLst/>
          </a:prstGeom>
          <a:noFill/>
          <a:ln/>
        </p:spPr>
        <p:txBody>
          <a:bodyPr wrap="square" lIns="0" tIns="0" rIns="0" bIns="0" rtlCol="0" anchor="t"/>
          <a:lstStyle/>
          <a:p>
            <a:pPr marL="0" indent="0" algn="l">
              <a:buNone/>
            </a:pPr>
            <a:r>
              <a:rPr lang="en-US" sz="1400" dirty="0">
                <a:solidFill>
                  <a:schemeClr val="tx1"/>
                </a:solidFill>
              </a:rPr>
              <a:t>No known polynomial-time algorithm gives the exact optimum.</a:t>
            </a:r>
            <a:endParaRPr lang="en-US" sz="1400" dirty="0"/>
          </a:p>
        </p:txBody>
      </p:sp>
      <p:sp>
        <p:nvSpPr>
          <p:cNvPr id="27"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1"/>
                </a:solidFill>
              </a:rPr>
              <a:t>How the Algorithm Works</a:t>
            </a:r>
            <a:endParaRPr lang="en-US" sz="3200" dirty="0"/>
          </a:p>
        </p:txBody>
      </p:sp>
      <p:sp>
        <p:nvSpPr>
          <p:cNvPr id="3" name="Shape 1"/>
          <p:cNvSpPr/>
          <p:nvPr/>
        </p:nvSpPr>
        <p:spPr>
          <a:xfrm>
            <a:off x="1554480" y="1531620"/>
            <a:ext cx="457200" cy="0"/>
          </a:xfrm>
          <a:prstGeom prst="line">
            <a:avLst/>
          </a:prstGeom>
          <a:noFill/>
          <a:ln w="19050">
            <a:solidFill>
              <a:schemeClr val="tx1"/>
            </a:solidFill>
            <a:prstDash val="solid"/>
            <a:tailEnd type="triangle"/>
          </a:ln>
        </p:spPr>
      </p:sp>
      <p:sp>
        <p:nvSpPr>
          <p:cNvPr id="4" name="Shape 2"/>
          <p:cNvSpPr/>
          <p:nvPr/>
        </p:nvSpPr>
        <p:spPr>
          <a:xfrm>
            <a:off x="3840480" y="1531620"/>
            <a:ext cx="457200" cy="0"/>
          </a:xfrm>
          <a:prstGeom prst="line">
            <a:avLst/>
          </a:prstGeom>
          <a:noFill/>
          <a:ln w="19050">
            <a:solidFill>
              <a:schemeClr val="tx1"/>
            </a:solidFill>
            <a:prstDash val="solid"/>
            <a:tailEnd type="triangle"/>
          </a:ln>
        </p:spPr>
      </p:sp>
      <p:sp>
        <p:nvSpPr>
          <p:cNvPr id="5" name="Shape 3"/>
          <p:cNvSpPr/>
          <p:nvPr/>
        </p:nvSpPr>
        <p:spPr>
          <a:xfrm>
            <a:off x="6217920" y="1531620"/>
            <a:ext cx="457200" cy="0"/>
          </a:xfrm>
          <a:prstGeom prst="line">
            <a:avLst/>
          </a:prstGeom>
          <a:noFill/>
          <a:ln w="19050">
            <a:solidFill>
              <a:schemeClr val="tx1"/>
            </a:solidFill>
            <a:prstDash val="solid"/>
            <a:tailEnd type="triangle"/>
          </a:ln>
        </p:spPr>
      </p:sp>
      <p:sp>
        <p:nvSpPr>
          <p:cNvPr id="6" name="Shape 4"/>
          <p:cNvSpPr/>
          <p:nvPr/>
        </p:nvSpPr>
        <p:spPr>
          <a:xfrm>
            <a:off x="7680960" y="1783080"/>
            <a:ext cx="0" cy="457200"/>
          </a:xfrm>
          <a:prstGeom prst="line">
            <a:avLst/>
          </a:prstGeom>
          <a:noFill/>
          <a:ln w="19050">
            <a:solidFill>
              <a:schemeClr val="tx1"/>
            </a:solidFill>
            <a:prstDash val="solid"/>
            <a:tailEnd type="triangle"/>
          </a:ln>
        </p:spPr>
      </p:sp>
      <p:sp>
        <p:nvSpPr>
          <p:cNvPr id="7" name="Shape 5"/>
          <p:cNvSpPr/>
          <p:nvPr/>
        </p:nvSpPr>
        <p:spPr>
          <a:xfrm flipH="1">
            <a:off x="6400800" y="2743200"/>
            <a:ext cx="411480" cy="0"/>
          </a:xfrm>
          <a:prstGeom prst="line">
            <a:avLst/>
          </a:prstGeom>
          <a:noFill/>
          <a:ln w="19050">
            <a:solidFill>
              <a:schemeClr val="tx1"/>
            </a:solidFill>
            <a:prstDash val="solid"/>
            <a:tailEnd type="triangle"/>
          </a:ln>
        </p:spPr>
      </p:sp>
      <p:sp>
        <p:nvSpPr>
          <p:cNvPr id="8" name="Shape 6"/>
          <p:cNvSpPr/>
          <p:nvPr/>
        </p:nvSpPr>
        <p:spPr>
          <a:xfrm flipH="1">
            <a:off x="3337560" y="2743200"/>
            <a:ext cx="1234440" cy="0"/>
          </a:xfrm>
          <a:prstGeom prst="line">
            <a:avLst/>
          </a:prstGeom>
          <a:noFill/>
          <a:ln w="19050">
            <a:solidFill>
              <a:schemeClr val="tx1"/>
            </a:solidFill>
            <a:prstDash val="solid"/>
            <a:tailEnd type="triangle"/>
          </a:ln>
        </p:spPr>
      </p:sp>
      <p:sp>
        <p:nvSpPr>
          <p:cNvPr id="9" name="Shape 7"/>
          <p:cNvSpPr/>
          <p:nvPr/>
        </p:nvSpPr>
        <p:spPr>
          <a:xfrm>
            <a:off x="7680960" y="3246120"/>
            <a:ext cx="0" cy="320040"/>
          </a:xfrm>
          <a:prstGeom prst="line">
            <a:avLst/>
          </a:prstGeom>
          <a:noFill/>
          <a:ln w="19050">
            <a:solidFill>
              <a:schemeClr val="tx1"/>
            </a:solidFill>
            <a:prstDash val="solid"/>
          </a:ln>
        </p:spPr>
      </p:sp>
      <p:sp>
        <p:nvSpPr>
          <p:cNvPr id="10" name="Shape 8"/>
          <p:cNvSpPr/>
          <p:nvPr/>
        </p:nvSpPr>
        <p:spPr>
          <a:xfrm flipH="1">
            <a:off x="3931920" y="3566160"/>
            <a:ext cx="3749040" cy="0"/>
          </a:xfrm>
          <a:prstGeom prst="line">
            <a:avLst/>
          </a:prstGeom>
          <a:noFill/>
          <a:ln w="19050">
            <a:solidFill>
              <a:schemeClr val="tx1"/>
            </a:solidFill>
            <a:prstDash val="solid"/>
          </a:ln>
        </p:spPr>
      </p:sp>
      <p:sp>
        <p:nvSpPr>
          <p:cNvPr id="11" name="Shape 9"/>
          <p:cNvSpPr/>
          <p:nvPr/>
        </p:nvSpPr>
        <p:spPr>
          <a:xfrm flipV="1">
            <a:off x="3931920" y="2743200"/>
            <a:ext cx="0" cy="822960"/>
          </a:xfrm>
          <a:prstGeom prst="line">
            <a:avLst/>
          </a:prstGeom>
          <a:noFill/>
          <a:ln w="19050">
            <a:solidFill>
              <a:schemeClr val="tx1"/>
            </a:solidFill>
            <a:prstDash val="solid"/>
          </a:ln>
        </p:spPr>
      </p:sp>
      <p:sp>
        <p:nvSpPr>
          <p:cNvPr id="12" name="Shape 10"/>
          <p:cNvSpPr/>
          <p:nvPr/>
        </p:nvSpPr>
        <p:spPr>
          <a:xfrm flipV="1">
            <a:off x="2377440" y="1965960"/>
            <a:ext cx="0" cy="274320"/>
          </a:xfrm>
          <a:prstGeom prst="line">
            <a:avLst/>
          </a:prstGeom>
          <a:noFill/>
          <a:ln w="19050">
            <a:solidFill>
              <a:schemeClr val="tx1"/>
            </a:solidFill>
            <a:prstDash val="solid"/>
          </a:ln>
        </p:spPr>
      </p:sp>
      <p:sp>
        <p:nvSpPr>
          <p:cNvPr id="13" name="Shape 11"/>
          <p:cNvSpPr/>
          <p:nvPr/>
        </p:nvSpPr>
        <p:spPr>
          <a:xfrm>
            <a:off x="2377440" y="1965960"/>
            <a:ext cx="2880360" cy="0"/>
          </a:xfrm>
          <a:prstGeom prst="line">
            <a:avLst/>
          </a:prstGeom>
          <a:noFill/>
          <a:ln w="19050">
            <a:solidFill>
              <a:schemeClr val="tx1"/>
            </a:solidFill>
            <a:prstDash val="solid"/>
          </a:ln>
        </p:spPr>
      </p:sp>
      <p:sp>
        <p:nvSpPr>
          <p:cNvPr id="14" name="Shape 12"/>
          <p:cNvSpPr/>
          <p:nvPr/>
        </p:nvSpPr>
        <p:spPr>
          <a:xfrm flipV="1">
            <a:off x="5257800" y="1783080"/>
            <a:ext cx="0" cy="182880"/>
          </a:xfrm>
          <a:prstGeom prst="line">
            <a:avLst/>
          </a:prstGeom>
          <a:noFill/>
          <a:ln w="19050">
            <a:solidFill>
              <a:schemeClr val="tx1"/>
            </a:solidFill>
            <a:prstDash val="solid"/>
            <a:tailEnd type="triangle"/>
          </a:ln>
        </p:spPr>
      </p:sp>
      <p:sp>
        <p:nvSpPr>
          <p:cNvPr id="15" name="Shape 13"/>
          <p:cNvSpPr/>
          <p:nvPr/>
        </p:nvSpPr>
        <p:spPr>
          <a:xfrm>
            <a:off x="2377440" y="3246120"/>
            <a:ext cx="0" cy="594360"/>
          </a:xfrm>
          <a:prstGeom prst="line">
            <a:avLst/>
          </a:prstGeom>
          <a:noFill/>
          <a:ln w="19050">
            <a:solidFill>
              <a:schemeClr val="tx1"/>
            </a:solidFill>
            <a:prstDash val="solid"/>
            <a:tailEnd type="triangle"/>
          </a:ln>
        </p:spPr>
      </p:sp>
      <p:sp>
        <p:nvSpPr>
          <p:cNvPr id="16" name="Shape 14"/>
          <p:cNvSpPr/>
          <p:nvPr/>
        </p:nvSpPr>
        <p:spPr>
          <a:xfrm>
            <a:off x="3383280" y="4114800"/>
            <a:ext cx="640080" cy="0"/>
          </a:xfrm>
          <a:prstGeom prst="line">
            <a:avLst/>
          </a:prstGeom>
          <a:noFill/>
          <a:ln w="19050">
            <a:solidFill>
              <a:schemeClr val="tx1"/>
            </a:solidFill>
            <a:prstDash val="solid"/>
            <a:tailEnd type="triangle"/>
          </a:ln>
        </p:spPr>
      </p:sp>
      <p:sp>
        <p:nvSpPr>
          <p:cNvPr id="17" name="Text 15"/>
          <p:cNvSpPr txBox="1"/>
          <p:nvPr/>
        </p:nvSpPr>
        <p:spPr>
          <a:xfrm>
            <a:off x="457200" y="1280160"/>
            <a:ext cx="1097280" cy="502920"/>
          </a:xfrm>
          <a:prstGeom prst="flowChartTerminator">
            <a:avLst/>
          </a:prstGeom>
          <a:solidFill>
            <a:schemeClr val="accent3"/>
          </a:solidFill>
          <a:ln w="12700">
            <a:solidFill>
              <a:schemeClr val="accent4"/>
            </a:solidFill>
          </a:ln>
        </p:spPr>
        <p:txBody>
          <a:bodyPr wrap="square" lIns="50800" tIns="50800" rIns="50800" bIns="50800" rtlCol="0" anchor="ctr"/>
          <a:lstStyle/>
          <a:p>
            <a:pPr marL="0" indent="0" algn="ctr">
              <a:buNone/>
            </a:pPr>
            <a:r>
              <a:rPr lang="en-US" sz="1200" b="1" dirty="0">
                <a:solidFill>
                  <a:schemeClr val="tx1"/>
                </a:solidFill>
              </a:rPr>
              <a:t>Start</a:t>
            </a:r>
            <a:endParaRPr lang="en-US" sz="1200" dirty="0"/>
          </a:p>
        </p:txBody>
      </p:sp>
      <p:sp>
        <p:nvSpPr>
          <p:cNvPr id="18" name="Text 16"/>
          <p:cNvSpPr txBox="1"/>
          <p:nvPr/>
        </p:nvSpPr>
        <p:spPr>
          <a:xfrm>
            <a:off x="2011680" y="1280160"/>
            <a:ext cx="1828800" cy="502920"/>
          </a:xfrm>
          <a:prstGeom prst="flowChartInputOutput">
            <a:avLst/>
          </a:prstGeom>
          <a:solidFill>
            <a:schemeClr val="accent1"/>
          </a:solidFill>
          <a:ln w="12700">
            <a:solidFill>
              <a:schemeClr val="accent4"/>
            </a:solidFill>
          </a:ln>
        </p:spPr>
        <p:txBody>
          <a:bodyPr wrap="square" lIns="177800" tIns="177800" rIns="177800" bIns="177800" rtlCol="0" anchor="ctr"/>
          <a:lstStyle/>
          <a:p>
            <a:pPr marL="0" indent="0" algn="ctr">
              <a:buNone/>
            </a:pPr>
            <a:r>
              <a:rPr lang="en-US" sz="1200" dirty="0">
                <a:solidFill>
                  <a:schemeClr val="tx1"/>
                </a:solidFill>
              </a:rPr>
              <a:t>Read n and d[i][j]</a:t>
            </a:r>
            <a:endParaRPr lang="en-US" sz="1200" dirty="0"/>
          </a:p>
        </p:txBody>
      </p:sp>
      <p:sp>
        <p:nvSpPr>
          <p:cNvPr id="19" name="Text 17"/>
          <p:cNvSpPr txBox="1"/>
          <p:nvPr/>
        </p:nvSpPr>
        <p:spPr>
          <a:xfrm>
            <a:off x="4297680" y="1280160"/>
            <a:ext cx="1920240" cy="502920"/>
          </a:xfrm>
          <a:prstGeom prst="rect">
            <a:avLst/>
          </a:prstGeom>
          <a:solidFill>
            <a:schemeClr val="accent1"/>
          </a:solidFill>
          <a:ln w="12700">
            <a:solidFill>
              <a:schemeClr val="accent4"/>
            </a:solidFill>
          </a:ln>
        </p:spPr>
        <p:txBody>
          <a:bodyPr wrap="square" lIns="50800" tIns="50800" rIns="50800" bIns="50800" rtlCol="0" anchor="ctr"/>
          <a:lstStyle/>
          <a:p>
            <a:pPr marL="0" indent="0" algn="ctr">
              <a:buNone/>
            </a:pPr>
            <a:r>
              <a:rPr lang="en-US" sz="1200" dirty="0">
                <a:solidFill>
                  <a:schemeClr val="tx1"/>
                </a:solidFill>
              </a:rPr>
              <a:t>Next permutation</a:t>
            </a:r>
            <a:endParaRPr lang="en-US" sz="1200" dirty="0"/>
          </a:p>
          <a:p>
            <a:pPr marL="0" indent="0" algn="ctr">
              <a:buNone/>
            </a:pPr>
            <a:r>
              <a:rPr lang="en-US" sz="1200" dirty="0">
                <a:solidFill>
                  <a:schemeClr val="tx1"/>
                </a:solidFill>
              </a:rPr>
              <a:t>(start fixed at A)</a:t>
            </a:r>
            <a:endParaRPr lang="en-US" sz="1200" dirty="0"/>
          </a:p>
        </p:txBody>
      </p:sp>
      <p:sp>
        <p:nvSpPr>
          <p:cNvPr id="20" name="Text 18"/>
          <p:cNvSpPr txBox="1"/>
          <p:nvPr/>
        </p:nvSpPr>
        <p:spPr>
          <a:xfrm>
            <a:off x="6675120" y="1280160"/>
            <a:ext cx="2011680" cy="502920"/>
          </a:xfrm>
          <a:prstGeom prst="rect">
            <a:avLst/>
          </a:prstGeom>
          <a:solidFill>
            <a:schemeClr val="accent1"/>
          </a:solidFill>
          <a:ln w="12700">
            <a:solidFill>
              <a:schemeClr val="accent4"/>
            </a:solidFill>
          </a:ln>
        </p:spPr>
        <p:txBody>
          <a:bodyPr wrap="square" lIns="50800" tIns="50800" rIns="50800" bIns="50800" rtlCol="0" anchor="ctr"/>
          <a:lstStyle/>
          <a:p>
            <a:pPr marL="0" indent="0" algn="ctr">
              <a:buNone/>
            </a:pPr>
            <a:r>
              <a:rPr lang="en-US" sz="1200" dirty="0">
                <a:solidFill>
                  <a:schemeClr val="tx1"/>
                </a:solidFill>
              </a:rPr>
              <a:t>Compute tour cost</a:t>
            </a:r>
            <a:endParaRPr lang="en-US" sz="1200" dirty="0"/>
          </a:p>
        </p:txBody>
      </p:sp>
      <p:sp>
        <p:nvSpPr>
          <p:cNvPr id="21" name="Text 19"/>
          <p:cNvSpPr txBox="1"/>
          <p:nvPr/>
        </p:nvSpPr>
        <p:spPr>
          <a:xfrm>
            <a:off x="6812280" y="2240280"/>
            <a:ext cx="1737360" cy="1005840"/>
          </a:xfrm>
          <a:prstGeom prst="flowChartDecision">
            <a:avLst/>
          </a:prstGeom>
          <a:solidFill>
            <a:schemeClr val="accent2"/>
          </a:solidFill>
          <a:ln w="12700">
            <a:solidFill>
              <a:schemeClr val="accent4"/>
            </a:solidFill>
          </a:ln>
        </p:spPr>
        <p:txBody>
          <a:bodyPr wrap="square" lIns="0" tIns="0" rIns="0" bIns="0" rtlCol="0" anchor="ctr"/>
          <a:lstStyle/>
          <a:p>
            <a:pPr marL="0" indent="0" algn="ctr">
              <a:buNone/>
            </a:pPr>
            <a:r>
              <a:rPr lang="en-US" sz="1200" dirty="0">
                <a:solidFill>
                  <a:schemeClr val="tx1"/>
                </a:solidFill>
              </a:rPr>
              <a:t>cost &lt; best?</a:t>
            </a:r>
            <a:endParaRPr lang="en-US" sz="1200" dirty="0"/>
          </a:p>
        </p:txBody>
      </p:sp>
      <p:sp>
        <p:nvSpPr>
          <p:cNvPr id="22" name="Text 20"/>
          <p:cNvSpPr txBox="1"/>
          <p:nvPr/>
        </p:nvSpPr>
        <p:spPr>
          <a:xfrm>
            <a:off x="4572000" y="2468880"/>
            <a:ext cx="1828800" cy="548640"/>
          </a:xfrm>
          <a:prstGeom prst="rect">
            <a:avLst/>
          </a:prstGeom>
          <a:solidFill>
            <a:schemeClr val="accent1"/>
          </a:solidFill>
          <a:ln w="12700">
            <a:solidFill>
              <a:schemeClr val="accent4"/>
            </a:solidFill>
          </a:ln>
        </p:spPr>
        <p:txBody>
          <a:bodyPr wrap="square" lIns="50800" tIns="50800" rIns="50800" bIns="50800" rtlCol="0" anchor="ctr"/>
          <a:lstStyle/>
          <a:p>
            <a:pPr marL="0" indent="0" algn="ctr">
              <a:buNone/>
            </a:pPr>
            <a:r>
              <a:rPr lang="en-US" sz="1200" dirty="0">
                <a:solidFill>
                  <a:schemeClr val="tx1"/>
                </a:solidFill>
              </a:rPr>
              <a:t>best ← cost</a:t>
            </a:r>
            <a:endParaRPr lang="en-US" sz="1200" dirty="0"/>
          </a:p>
          <a:p>
            <a:pPr marL="0" indent="0" algn="ctr">
              <a:buNone/>
            </a:pPr>
            <a:r>
              <a:rPr lang="en-US" sz="1200" dirty="0">
                <a:solidFill>
                  <a:schemeClr val="tx1"/>
                </a:solidFill>
              </a:rPr>
              <a:t>save tour</a:t>
            </a:r>
            <a:endParaRPr lang="en-US" sz="1200" dirty="0"/>
          </a:p>
        </p:txBody>
      </p:sp>
      <p:sp>
        <p:nvSpPr>
          <p:cNvPr id="23" name="Text 21"/>
          <p:cNvSpPr txBox="1"/>
          <p:nvPr/>
        </p:nvSpPr>
        <p:spPr>
          <a:xfrm>
            <a:off x="1417320" y="2240280"/>
            <a:ext cx="1920240" cy="1005840"/>
          </a:xfrm>
          <a:prstGeom prst="flowChartDecision">
            <a:avLst/>
          </a:prstGeom>
          <a:solidFill>
            <a:schemeClr val="accent2"/>
          </a:solidFill>
          <a:ln w="12700">
            <a:solidFill>
              <a:schemeClr val="accent4"/>
            </a:solidFill>
          </a:ln>
        </p:spPr>
        <p:txBody>
          <a:bodyPr wrap="square" lIns="0" tIns="0" rIns="0" bIns="0" rtlCol="0" anchor="ctr"/>
          <a:lstStyle/>
          <a:p>
            <a:pPr marL="0" indent="0" algn="ctr">
              <a:buNone/>
            </a:pPr>
            <a:r>
              <a:rPr lang="en-US" sz="1200" dirty="0">
                <a:solidFill>
                  <a:schemeClr val="tx1"/>
                </a:solidFill>
              </a:rPr>
              <a:t>More</a:t>
            </a:r>
            <a:endParaRPr lang="en-US" sz="1200" dirty="0"/>
          </a:p>
          <a:p>
            <a:pPr marL="0" indent="0" algn="ctr">
              <a:buNone/>
            </a:pPr>
            <a:r>
              <a:rPr lang="en-US" sz="1200" dirty="0">
                <a:solidFill>
                  <a:schemeClr val="tx1"/>
                </a:solidFill>
              </a:rPr>
              <a:t>permutations?</a:t>
            </a:r>
            <a:endParaRPr lang="en-US" sz="1200" dirty="0"/>
          </a:p>
        </p:txBody>
      </p:sp>
      <p:sp>
        <p:nvSpPr>
          <p:cNvPr id="24" name="Text 22"/>
          <p:cNvSpPr txBox="1"/>
          <p:nvPr/>
        </p:nvSpPr>
        <p:spPr>
          <a:xfrm>
            <a:off x="1371600" y="3840480"/>
            <a:ext cx="2011680" cy="548640"/>
          </a:xfrm>
          <a:prstGeom prst="flowChartInputOutput">
            <a:avLst/>
          </a:prstGeom>
          <a:solidFill>
            <a:schemeClr val="accent1"/>
          </a:solidFill>
          <a:ln w="12700">
            <a:solidFill>
              <a:schemeClr val="accent4"/>
            </a:solidFill>
          </a:ln>
        </p:spPr>
        <p:txBody>
          <a:bodyPr wrap="square" lIns="279400" tIns="279400" rIns="279400" bIns="279400" rtlCol="0" anchor="ctr"/>
          <a:lstStyle/>
          <a:p>
            <a:pPr marL="0" indent="0" algn="ctr">
              <a:buNone/>
            </a:pPr>
            <a:r>
              <a:rPr lang="en-US" sz="1100" dirty="0">
                <a:solidFill>
                  <a:schemeClr val="tx1"/>
                </a:solidFill>
              </a:rPr>
              <a:t>Output best tour and cost</a:t>
            </a:r>
            <a:endParaRPr lang="en-US" sz="1100" dirty="0"/>
          </a:p>
        </p:txBody>
      </p:sp>
      <p:sp>
        <p:nvSpPr>
          <p:cNvPr id="25" name="Text 23"/>
          <p:cNvSpPr txBox="1"/>
          <p:nvPr/>
        </p:nvSpPr>
        <p:spPr>
          <a:xfrm>
            <a:off x="4023360" y="3858768"/>
            <a:ext cx="1097280" cy="502920"/>
          </a:xfrm>
          <a:prstGeom prst="flowChartTerminator">
            <a:avLst/>
          </a:prstGeom>
          <a:solidFill>
            <a:schemeClr val="accent3"/>
          </a:solidFill>
          <a:ln w="12700">
            <a:solidFill>
              <a:schemeClr val="accent4"/>
            </a:solidFill>
          </a:ln>
        </p:spPr>
        <p:txBody>
          <a:bodyPr wrap="square" lIns="50800" tIns="50800" rIns="50800" bIns="50800" rtlCol="0" anchor="ctr"/>
          <a:lstStyle/>
          <a:p>
            <a:pPr marL="0" indent="0" algn="ctr">
              <a:buNone/>
            </a:pPr>
            <a:r>
              <a:rPr lang="en-US" sz="1200" b="1" dirty="0">
                <a:solidFill>
                  <a:schemeClr val="tx1"/>
                </a:solidFill>
              </a:rPr>
              <a:t>End</a:t>
            </a:r>
            <a:endParaRPr lang="en-US" sz="1200" dirty="0"/>
          </a:p>
        </p:txBody>
      </p:sp>
      <p:sp>
        <p:nvSpPr>
          <p:cNvPr id="26" name="Text 24"/>
          <p:cNvSpPr txBox="1"/>
          <p:nvPr/>
        </p:nvSpPr>
        <p:spPr>
          <a:xfrm>
            <a:off x="6400800" y="2487168"/>
            <a:ext cx="411480" cy="201168"/>
          </a:xfrm>
          <a:prstGeom prst="rect">
            <a:avLst/>
          </a:prstGeom>
          <a:noFill/>
          <a:ln/>
        </p:spPr>
        <p:txBody>
          <a:bodyPr wrap="square" lIns="0" tIns="0" rIns="0" bIns="0" rtlCol="0" anchor="t"/>
          <a:lstStyle/>
          <a:p>
            <a:pPr marL="0" indent="0" algn="ctr">
              <a:buNone/>
            </a:pPr>
            <a:r>
              <a:rPr lang="en-US" sz="1100" b="1" dirty="0">
                <a:solidFill>
                  <a:schemeClr val="accent5"/>
                </a:solidFill>
              </a:rPr>
              <a:t>Yes</a:t>
            </a:r>
            <a:endParaRPr lang="en-US" sz="1100" dirty="0"/>
          </a:p>
        </p:txBody>
      </p:sp>
      <p:sp>
        <p:nvSpPr>
          <p:cNvPr id="27" name="Text 25"/>
          <p:cNvSpPr txBox="1"/>
          <p:nvPr/>
        </p:nvSpPr>
        <p:spPr>
          <a:xfrm>
            <a:off x="7754112" y="3291840"/>
            <a:ext cx="365760" cy="201168"/>
          </a:xfrm>
          <a:prstGeom prst="rect">
            <a:avLst/>
          </a:prstGeom>
          <a:noFill/>
          <a:ln/>
        </p:spPr>
        <p:txBody>
          <a:bodyPr wrap="square" lIns="0" tIns="0" rIns="0" bIns="0" rtlCol="0" anchor="t"/>
          <a:lstStyle/>
          <a:p>
            <a:pPr marL="0" indent="0" algn="l">
              <a:buNone/>
            </a:pPr>
            <a:r>
              <a:rPr lang="en-US" sz="1100" b="1" dirty="0">
                <a:solidFill>
                  <a:schemeClr val="accent6"/>
                </a:solidFill>
              </a:rPr>
              <a:t>No</a:t>
            </a:r>
            <a:endParaRPr lang="en-US" sz="1100" dirty="0"/>
          </a:p>
        </p:txBody>
      </p:sp>
      <p:sp>
        <p:nvSpPr>
          <p:cNvPr id="28" name="Text 26"/>
          <p:cNvSpPr txBox="1"/>
          <p:nvPr/>
        </p:nvSpPr>
        <p:spPr>
          <a:xfrm>
            <a:off x="2487168" y="2002536"/>
            <a:ext cx="411480" cy="201168"/>
          </a:xfrm>
          <a:prstGeom prst="rect">
            <a:avLst/>
          </a:prstGeom>
          <a:noFill/>
          <a:ln/>
        </p:spPr>
        <p:txBody>
          <a:bodyPr wrap="square" lIns="0" tIns="0" rIns="0" bIns="0" rtlCol="0" anchor="t"/>
          <a:lstStyle/>
          <a:p>
            <a:pPr marL="0" indent="0" algn="l">
              <a:buNone/>
            </a:pPr>
            <a:r>
              <a:rPr lang="en-US" sz="1100" b="1" dirty="0">
                <a:solidFill>
                  <a:schemeClr val="accent5"/>
                </a:solidFill>
              </a:rPr>
              <a:t>Yes</a:t>
            </a:r>
            <a:endParaRPr lang="en-US" sz="1100" dirty="0"/>
          </a:p>
        </p:txBody>
      </p:sp>
      <p:sp>
        <p:nvSpPr>
          <p:cNvPr id="29" name="Text 27"/>
          <p:cNvSpPr txBox="1"/>
          <p:nvPr/>
        </p:nvSpPr>
        <p:spPr>
          <a:xfrm>
            <a:off x="2450592" y="3337560"/>
            <a:ext cx="365760" cy="201168"/>
          </a:xfrm>
          <a:prstGeom prst="rect">
            <a:avLst/>
          </a:prstGeom>
          <a:noFill/>
          <a:ln/>
        </p:spPr>
        <p:txBody>
          <a:bodyPr wrap="square" lIns="0" tIns="0" rIns="0" bIns="0" rtlCol="0" anchor="t"/>
          <a:lstStyle/>
          <a:p>
            <a:pPr marL="0" indent="0" algn="l">
              <a:buNone/>
            </a:pPr>
            <a:r>
              <a:rPr lang="en-US" sz="1100" b="1" dirty="0">
                <a:solidFill>
                  <a:schemeClr val="accent6"/>
                </a:solidFill>
              </a:rPr>
              <a:t>No</a:t>
            </a:r>
            <a:endParaRPr lang="en-US" sz="1100" dirty="0"/>
          </a:p>
        </p:txBody>
      </p:sp>
      <p:sp>
        <p:nvSpPr>
          <p:cNvPr id="30" name="Text 28"/>
          <p:cNvSpPr txBox="1"/>
          <p:nvPr/>
        </p:nvSpPr>
        <p:spPr>
          <a:xfrm>
            <a:off x="5669280" y="3794760"/>
            <a:ext cx="3017520" cy="777240"/>
          </a:xfrm>
          <a:prstGeom prst="roundRect">
            <a:avLst>
              <a:gd name="adj" fmla="val 11765"/>
            </a:avLst>
          </a:prstGeom>
          <a:solidFill>
            <a:schemeClr val="accent3"/>
          </a:solidFill>
          <a:ln w="12700">
            <a:solidFill>
              <a:schemeClr val="accent3"/>
            </a:solidFill>
          </a:ln>
        </p:spPr>
        <p:txBody>
          <a:bodyPr wrap="square" lIns="127000" tIns="127000" rIns="127000" bIns="127000" rtlCol="0" anchor="ctr"/>
          <a:lstStyle/>
          <a:p>
            <a:pPr marL="0" indent="0" algn="l">
              <a:buNone/>
            </a:pPr>
            <a:r>
              <a:rPr lang="en-US" sz="1300" dirty="0">
                <a:solidFill>
                  <a:schemeClr val="tx1"/>
                </a:solidFill>
              </a:rPr>
              <a:t>Every one of the (n−1)! permutations is evaluated, so time is O((n−1)!)</a:t>
            </a:r>
            <a:endParaRPr lang="en-US" sz="1300" dirty="0"/>
          </a:p>
        </p:txBody>
      </p:sp>
      <p:sp>
        <p:nvSpPr>
          <p:cNvPr id="31"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1"/>
                </a:solidFill>
              </a:rPr>
              <a:t>Example: Problem Statement</a:t>
            </a:r>
            <a:endParaRPr lang="en-US" sz="3200" dirty="0"/>
          </a:p>
        </p:txBody>
      </p:sp>
      <p:sp>
        <p:nvSpPr>
          <p:cNvPr id="3" name="Text 1"/>
          <p:cNvSpPr txBox="1"/>
          <p:nvPr/>
        </p:nvSpPr>
        <p:spPr>
          <a:xfrm>
            <a:off x="457200" y="1280160"/>
            <a:ext cx="4114800" cy="228600"/>
          </a:xfrm>
          <a:prstGeom prst="rect">
            <a:avLst/>
          </a:prstGeom>
          <a:noFill/>
          <a:ln/>
        </p:spPr>
        <p:txBody>
          <a:bodyPr wrap="square" lIns="0" tIns="0" rIns="0" bIns="0" rtlCol="0" anchor="t"/>
          <a:lstStyle/>
          <a:p>
            <a:pPr marL="0" indent="0" algn="l">
              <a:buNone/>
            </a:pPr>
            <a:r>
              <a:rPr lang="en-US" sz="1200" b="1" dirty="0">
                <a:solidFill>
                  <a:schemeClr val="accent6"/>
                </a:solidFill>
              </a:rPr>
              <a:t>PROBLEM</a:t>
            </a:r>
            <a:endParaRPr lang="en-US" sz="1200" dirty="0"/>
          </a:p>
        </p:txBody>
      </p:sp>
      <p:sp>
        <p:nvSpPr>
          <p:cNvPr id="4" name="Text 2"/>
          <p:cNvSpPr txBox="1"/>
          <p:nvPr/>
        </p:nvSpPr>
        <p:spPr>
          <a:xfrm>
            <a:off x="457200" y="1554480"/>
            <a:ext cx="4114800" cy="914400"/>
          </a:xfrm>
          <a:prstGeom prst="rect">
            <a:avLst/>
          </a:prstGeom>
          <a:noFill/>
          <a:ln/>
        </p:spPr>
        <p:txBody>
          <a:bodyPr wrap="square" lIns="0" tIns="0" rIns="0" bIns="0" rtlCol="0" anchor="t"/>
          <a:lstStyle/>
          <a:p>
            <a:pPr marL="0" indent="0" algn="l">
              <a:buNone/>
            </a:pPr>
            <a:r>
              <a:rPr lang="en-US" sz="1400" dirty="0">
                <a:solidFill>
                  <a:schemeClr val="tx1"/>
                </a:solidFill>
              </a:rPr>
              <a:t>A salesman starts at city A, must visit B, C and D exactly once, then return to A. Which route has the minimum total distance?</a:t>
            </a:r>
            <a:endParaRPr lang="en-US" sz="1400" dirty="0"/>
          </a:p>
        </p:txBody>
      </p:sp>
      <p:sp>
        <p:nvSpPr>
          <p:cNvPr id="5" name="Text 3"/>
          <p:cNvSpPr txBox="1"/>
          <p:nvPr/>
        </p:nvSpPr>
        <p:spPr>
          <a:xfrm>
            <a:off x="457200" y="2606040"/>
            <a:ext cx="4114800" cy="228600"/>
          </a:xfrm>
          <a:prstGeom prst="rect">
            <a:avLst/>
          </a:prstGeom>
          <a:noFill/>
          <a:ln/>
        </p:spPr>
        <p:txBody>
          <a:bodyPr wrap="square" lIns="0" tIns="0" rIns="0" bIns="0" rtlCol="0" anchor="t"/>
          <a:lstStyle/>
          <a:p>
            <a:pPr marL="0" indent="0" algn="l">
              <a:buNone/>
            </a:pPr>
            <a:r>
              <a:rPr lang="en-US" sz="1200" b="1" dirty="0">
                <a:solidFill>
                  <a:schemeClr val="accent6"/>
                </a:solidFill>
              </a:rPr>
              <a:t>DISTANCE MATRIX (km)</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2880360"/>
          <a:ext cx="3886200" cy="914400"/>
        </p:xfrm>
        <a:graphic>
          <a:graphicData uri="http://schemas.openxmlformats.org/drawingml/2006/table">
            <a:tbl>
              <a:tblPr/>
              <a:tblGrid>
                <a:gridCol w="59436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tblGrid>
              <a:tr h="329184">
                <a:tc>
                  <a:txBody>
                    <a:bodyPr/>
                    <a:lstStyle/>
                    <a:p>
                      <a:pPr marL="0" indent="0" algn="ctr">
                        <a:buNone/>
                      </a:pP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1"/>
                    </a:solidFill>
                  </a:tcPr>
                </a:tc>
                <a:tc>
                  <a:txBody>
                    <a:bodyPr/>
                    <a:lstStyle/>
                    <a:p>
                      <a:pPr marL="0" indent="0" algn="ctr">
                        <a:buNone/>
                      </a:pPr>
                      <a:r>
                        <a:rPr lang="en-US" sz="1300" b="1" dirty="0">
                          <a:solidFill>
                            <a:schemeClr val="tx1"/>
                          </a:solidFill>
                        </a:rPr>
                        <a:t>A</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1"/>
                    </a:solidFill>
                  </a:tcPr>
                </a:tc>
                <a:tc>
                  <a:txBody>
                    <a:bodyPr/>
                    <a:lstStyle/>
                    <a:p>
                      <a:pPr marL="0" indent="0" algn="ctr">
                        <a:buNone/>
                      </a:pPr>
                      <a:r>
                        <a:rPr lang="en-US" sz="1300" b="1" dirty="0">
                          <a:solidFill>
                            <a:schemeClr val="tx1"/>
                          </a:solidFill>
                        </a:rPr>
                        <a:t>B</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1"/>
                    </a:solidFill>
                  </a:tcPr>
                </a:tc>
                <a:tc>
                  <a:txBody>
                    <a:bodyPr/>
                    <a:lstStyle/>
                    <a:p>
                      <a:pPr marL="0" indent="0" algn="ctr">
                        <a:buNone/>
                      </a:pPr>
                      <a:r>
                        <a:rPr lang="en-US" sz="1300" b="1" dirty="0">
                          <a:solidFill>
                            <a:schemeClr val="tx1"/>
                          </a:solidFill>
                        </a:rPr>
                        <a:t>C</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1"/>
                    </a:solidFill>
                  </a:tcPr>
                </a:tc>
                <a:tc>
                  <a:txBody>
                    <a:bodyPr/>
                    <a:lstStyle/>
                    <a:p>
                      <a:pPr marL="0" indent="0" algn="ctr">
                        <a:buNone/>
                      </a:pPr>
                      <a:r>
                        <a:rPr lang="en-US" sz="1300" b="1" dirty="0">
                          <a:solidFill>
                            <a:schemeClr val="tx1"/>
                          </a:solidFill>
                        </a:rPr>
                        <a:t>D</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329184">
                <a:tc>
                  <a:txBody>
                    <a:bodyPr/>
                    <a:lstStyle/>
                    <a:p>
                      <a:pPr marL="0" indent="0" algn="ctr">
                        <a:buNone/>
                      </a:pPr>
                      <a:r>
                        <a:rPr lang="en-US" sz="1300" b="1" dirty="0">
                          <a:solidFill>
                            <a:schemeClr val="tx1"/>
                          </a:solidFill>
                        </a:rPr>
                        <a:t>A</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1"/>
                    </a:solidFill>
                  </a:tcPr>
                </a:tc>
                <a:tc>
                  <a:txBody>
                    <a:bodyPr/>
                    <a:lstStyle/>
                    <a:p>
                      <a:pPr marL="0" indent="0" algn="ctr">
                        <a:buNone/>
                      </a:pPr>
                      <a:r>
                        <a:rPr lang="en-US" sz="1300" dirty="0">
                          <a:solidFill>
                            <a:schemeClr val="tx1"/>
                          </a:solidFill>
                        </a:rPr>
                        <a:t>—</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10</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15</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20</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29184">
                <a:tc>
                  <a:txBody>
                    <a:bodyPr/>
                    <a:lstStyle/>
                    <a:p>
                      <a:pPr marL="0" indent="0" algn="ctr">
                        <a:buNone/>
                      </a:pPr>
                      <a:r>
                        <a:rPr lang="en-US" sz="1300" b="1" dirty="0">
                          <a:solidFill>
                            <a:schemeClr val="tx1"/>
                          </a:solidFill>
                        </a:rPr>
                        <a:t>B</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1"/>
                    </a:solidFill>
                  </a:tcPr>
                </a:tc>
                <a:tc>
                  <a:txBody>
                    <a:bodyPr/>
                    <a:lstStyle/>
                    <a:p>
                      <a:pPr marL="0" indent="0" algn="ctr">
                        <a:buNone/>
                      </a:pPr>
                      <a:r>
                        <a:rPr lang="en-US" sz="1300" dirty="0">
                          <a:solidFill>
                            <a:schemeClr val="tx1"/>
                          </a:solidFill>
                        </a:rPr>
                        <a:t>10</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35</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25</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29184">
                <a:tc>
                  <a:txBody>
                    <a:bodyPr/>
                    <a:lstStyle/>
                    <a:p>
                      <a:pPr marL="0" indent="0" algn="ctr">
                        <a:buNone/>
                      </a:pPr>
                      <a:r>
                        <a:rPr lang="en-US" sz="1300" b="1" dirty="0">
                          <a:solidFill>
                            <a:schemeClr val="tx1"/>
                          </a:solidFill>
                        </a:rPr>
                        <a:t>C</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1"/>
                    </a:solidFill>
                  </a:tcPr>
                </a:tc>
                <a:tc>
                  <a:txBody>
                    <a:bodyPr/>
                    <a:lstStyle/>
                    <a:p>
                      <a:pPr marL="0" indent="0" algn="ctr">
                        <a:buNone/>
                      </a:pPr>
                      <a:r>
                        <a:rPr lang="en-US" sz="1300" dirty="0">
                          <a:solidFill>
                            <a:schemeClr val="tx1"/>
                          </a:solidFill>
                        </a:rPr>
                        <a:t>15</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35</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30</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29184">
                <a:tc>
                  <a:txBody>
                    <a:bodyPr/>
                    <a:lstStyle/>
                    <a:p>
                      <a:pPr marL="0" indent="0" algn="ctr">
                        <a:buNone/>
                      </a:pPr>
                      <a:r>
                        <a:rPr lang="en-US" sz="1300" b="1" dirty="0">
                          <a:solidFill>
                            <a:schemeClr val="tx1"/>
                          </a:solidFill>
                        </a:rPr>
                        <a:t>D</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1"/>
                    </a:solidFill>
                  </a:tcPr>
                </a:tc>
                <a:tc>
                  <a:txBody>
                    <a:bodyPr/>
                    <a:lstStyle/>
                    <a:p>
                      <a:pPr marL="0" indent="0" algn="ctr">
                        <a:buNone/>
                      </a:pPr>
                      <a:r>
                        <a:rPr lang="en-US" sz="1300" dirty="0">
                          <a:solidFill>
                            <a:schemeClr val="tx1"/>
                          </a:solidFill>
                        </a:rPr>
                        <a:t>20</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25</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30</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7" name="Text 4"/>
          <p:cNvSpPr txBox="1"/>
          <p:nvPr/>
        </p:nvSpPr>
        <p:spPr>
          <a:xfrm>
            <a:off x="4846320" y="1234440"/>
            <a:ext cx="3840480" cy="3291840"/>
          </a:xfrm>
          <a:prstGeom prst="roundRect">
            <a:avLst>
              <a:gd name="adj" fmla="val 2222"/>
            </a:avLst>
          </a:prstGeom>
          <a:solidFill>
            <a:schemeClr val="bg2"/>
          </a:solidFill>
          <a:ln w="12700">
            <a:solidFill>
              <a:schemeClr val="bg2"/>
            </a:solidFill>
          </a:ln>
        </p:spPr>
        <p:txBody>
          <a:bodyPr wrap="square" lIns="50800" tIns="50800" rIns="50800" bIns="50800" rtlCol="0" anchor="ctr"/>
          <a:lstStyle/>
          <a:p>
            <a:pPr marL="0" indent="0" algn="ctr">
              <a:buNone/>
            </a:pPr>
            <a:endParaRPr lang="en-US" sz="1200" dirty="0"/>
          </a:p>
        </p:txBody>
      </p:sp>
      <p:sp>
        <p:nvSpPr>
          <p:cNvPr id="8" name="Shape 5"/>
          <p:cNvSpPr/>
          <p:nvPr/>
        </p:nvSpPr>
        <p:spPr>
          <a:xfrm>
            <a:off x="5669280" y="1737360"/>
            <a:ext cx="2194560" cy="0"/>
          </a:xfrm>
          <a:prstGeom prst="line">
            <a:avLst/>
          </a:prstGeom>
          <a:noFill/>
          <a:ln w="28575">
            <a:solidFill>
              <a:schemeClr val="accent4"/>
            </a:solidFill>
            <a:prstDash val="solid"/>
          </a:ln>
        </p:spPr>
      </p:sp>
      <p:sp>
        <p:nvSpPr>
          <p:cNvPr id="9" name="Shape 6"/>
          <p:cNvSpPr/>
          <p:nvPr/>
        </p:nvSpPr>
        <p:spPr>
          <a:xfrm>
            <a:off x="7863840" y="1737360"/>
            <a:ext cx="0" cy="2103120"/>
          </a:xfrm>
          <a:prstGeom prst="line">
            <a:avLst/>
          </a:prstGeom>
          <a:noFill/>
          <a:ln w="28575">
            <a:solidFill>
              <a:schemeClr val="accent4"/>
            </a:solidFill>
            <a:prstDash val="solid"/>
          </a:ln>
        </p:spPr>
      </p:sp>
      <p:sp>
        <p:nvSpPr>
          <p:cNvPr id="10" name="Shape 7"/>
          <p:cNvSpPr/>
          <p:nvPr/>
        </p:nvSpPr>
        <p:spPr>
          <a:xfrm flipH="1">
            <a:off x="5669280" y="3840480"/>
            <a:ext cx="2194560" cy="0"/>
          </a:xfrm>
          <a:prstGeom prst="line">
            <a:avLst/>
          </a:prstGeom>
          <a:noFill/>
          <a:ln w="28575">
            <a:solidFill>
              <a:schemeClr val="accent4"/>
            </a:solidFill>
            <a:prstDash val="solid"/>
          </a:ln>
        </p:spPr>
      </p:sp>
      <p:sp>
        <p:nvSpPr>
          <p:cNvPr id="11" name="Shape 8"/>
          <p:cNvSpPr/>
          <p:nvPr/>
        </p:nvSpPr>
        <p:spPr>
          <a:xfrm flipV="1">
            <a:off x="5669280" y="1737360"/>
            <a:ext cx="0" cy="2103120"/>
          </a:xfrm>
          <a:prstGeom prst="line">
            <a:avLst/>
          </a:prstGeom>
          <a:noFill/>
          <a:ln w="28575">
            <a:solidFill>
              <a:schemeClr val="accent4"/>
            </a:solidFill>
            <a:prstDash val="solid"/>
          </a:ln>
        </p:spPr>
      </p:sp>
      <p:sp>
        <p:nvSpPr>
          <p:cNvPr id="12" name="Shape 9"/>
          <p:cNvSpPr/>
          <p:nvPr/>
        </p:nvSpPr>
        <p:spPr>
          <a:xfrm>
            <a:off x="5669280" y="1737360"/>
            <a:ext cx="2194560" cy="2103120"/>
          </a:xfrm>
          <a:prstGeom prst="line">
            <a:avLst/>
          </a:prstGeom>
          <a:noFill/>
          <a:ln w="28575">
            <a:solidFill>
              <a:schemeClr val="accent4"/>
            </a:solidFill>
            <a:prstDash val="solid"/>
          </a:ln>
        </p:spPr>
      </p:sp>
      <p:sp>
        <p:nvSpPr>
          <p:cNvPr id="13" name="Shape 10"/>
          <p:cNvSpPr/>
          <p:nvPr/>
        </p:nvSpPr>
        <p:spPr>
          <a:xfrm flipH="1">
            <a:off x="5669280" y="1737360"/>
            <a:ext cx="2194560" cy="2103120"/>
          </a:xfrm>
          <a:prstGeom prst="line">
            <a:avLst/>
          </a:prstGeom>
          <a:noFill/>
          <a:ln w="28575">
            <a:solidFill>
              <a:schemeClr val="accent4"/>
            </a:solidFill>
            <a:prstDash val="solid"/>
          </a:ln>
        </p:spPr>
      </p:sp>
      <p:sp>
        <p:nvSpPr>
          <p:cNvPr id="14" name="Text 11"/>
          <p:cNvSpPr txBox="1"/>
          <p:nvPr/>
        </p:nvSpPr>
        <p:spPr>
          <a:xfrm>
            <a:off x="6547104" y="1600200"/>
            <a:ext cx="438912" cy="274320"/>
          </a:xfrm>
          <a:prstGeom prst="roundRect">
            <a:avLst>
              <a:gd name="adj" fmla="val 26667"/>
            </a:avLst>
          </a:prstGeom>
          <a:solidFill>
            <a:schemeClr val="bg1"/>
          </a:solidFill>
          <a:ln w="12700">
            <a:solidFill>
              <a:schemeClr val="accent4"/>
            </a:solidFill>
          </a:ln>
        </p:spPr>
        <p:txBody>
          <a:bodyPr wrap="square" lIns="0" tIns="0" rIns="0" bIns="0" rtlCol="0" anchor="ctr"/>
          <a:lstStyle/>
          <a:p>
            <a:pPr marL="0" indent="0" algn="ctr">
              <a:buNone/>
            </a:pPr>
            <a:r>
              <a:rPr lang="en-US" sz="1200" b="1" dirty="0">
                <a:solidFill>
                  <a:schemeClr val="tx1"/>
                </a:solidFill>
              </a:rPr>
              <a:t>10</a:t>
            </a:r>
            <a:endParaRPr lang="en-US" sz="1200" dirty="0"/>
          </a:p>
        </p:txBody>
      </p:sp>
      <p:sp>
        <p:nvSpPr>
          <p:cNvPr id="15" name="Text 12"/>
          <p:cNvSpPr txBox="1"/>
          <p:nvPr/>
        </p:nvSpPr>
        <p:spPr>
          <a:xfrm>
            <a:off x="7644384" y="2651760"/>
            <a:ext cx="438912" cy="274320"/>
          </a:xfrm>
          <a:prstGeom prst="roundRect">
            <a:avLst>
              <a:gd name="adj" fmla="val 26667"/>
            </a:avLst>
          </a:prstGeom>
          <a:solidFill>
            <a:schemeClr val="bg1"/>
          </a:solidFill>
          <a:ln w="12700">
            <a:solidFill>
              <a:schemeClr val="accent4"/>
            </a:solidFill>
          </a:ln>
        </p:spPr>
        <p:txBody>
          <a:bodyPr wrap="square" lIns="0" tIns="0" rIns="0" bIns="0" rtlCol="0" anchor="ctr"/>
          <a:lstStyle/>
          <a:p>
            <a:pPr marL="0" indent="0" algn="ctr">
              <a:buNone/>
            </a:pPr>
            <a:r>
              <a:rPr lang="en-US" sz="1200" b="1" dirty="0">
                <a:solidFill>
                  <a:schemeClr val="tx1"/>
                </a:solidFill>
              </a:rPr>
              <a:t>35</a:t>
            </a:r>
            <a:endParaRPr lang="en-US" sz="1200" dirty="0"/>
          </a:p>
        </p:txBody>
      </p:sp>
      <p:sp>
        <p:nvSpPr>
          <p:cNvPr id="16" name="Text 13"/>
          <p:cNvSpPr txBox="1"/>
          <p:nvPr/>
        </p:nvSpPr>
        <p:spPr>
          <a:xfrm>
            <a:off x="6547104" y="3703320"/>
            <a:ext cx="438912" cy="274320"/>
          </a:xfrm>
          <a:prstGeom prst="roundRect">
            <a:avLst>
              <a:gd name="adj" fmla="val 26667"/>
            </a:avLst>
          </a:prstGeom>
          <a:solidFill>
            <a:schemeClr val="bg1"/>
          </a:solidFill>
          <a:ln w="12700">
            <a:solidFill>
              <a:schemeClr val="accent4"/>
            </a:solidFill>
          </a:ln>
        </p:spPr>
        <p:txBody>
          <a:bodyPr wrap="square" lIns="0" tIns="0" rIns="0" bIns="0" rtlCol="0" anchor="ctr"/>
          <a:lstStyle/>
          <a:p>
            <a:pPr marL="0" indent="0" algn="ctr">
              <a:buNone/>
            </a:pPr>
            <a:r>
              <a:rPr lang="en-US" sz="1200" b="1" dirty="0">
                <a:solidFill>
                  <a:schemeClr val="tx1"/>
                </a:solidFill>
              </a:rPr>
              <a:t>30</a:t>
            </a:r>
            <a:endParaRPr lang="en-US" sz="1200" dirty="0"/>
          </a:p>
        </p:txBody>
      </p:sp>
      <p:sp>
        <p:nvSpPr>
          <p:cNvPr id="17" name="Text 14"/>
          <p:cNvSpPr txBox="1"/>
          <p:nvPr/>
        </p:nvSpPr>
        <p:spPr>
          <a:xfrm>
            <a:off x="5449824" y="2651760"/>
            <a:ext cx="438912" cy="274320"/>
          </a:xfrm>
          <a:prstGeom prst="roundRect">
            <a:avLst>
              <a:gd name="adj" fmla="val 26667"/>
            </a:avLst>
          </a:prstGeom>
          <a:solidFill>
            <a:schemeClr val="bg1"/>
          </a:solidFill>
          <a:ln w="12700">
            <a:solidFill>
              <a:schemeClr val="accent4"/>
            </a:solidFill>
          </a:ln>
        </p:spPr>
        <p:txBody>
          <a:bodyPr wrap="square" lIns="0" tIns="0" rIns="0" bIns="0" rtlCol="0" anchor="ctr"/>
          <a:lstStyle/>
          <a:p>
            <a:pPr marL="0" indent="0" algn="ctr">
              <a:buNone/>
            </a:pPr>
            <a:r>
              <a:rPr lang="en-US" sz="1200" b="1" dirty="0">
                <a:solidFill>
                  <a:schemeClr val="tx1"/>
                </a:solidFill>
              </a:rPr>
              <a:t>20</a:t>
            </a:r>
            <a:endParaRPr lang="en-US" sz="1200" dirty="0"/>
          </a:p>
        </p:txBody>
      </p:sp>
      <p:sp>
        <p:nvSpPr>
          <p:cNvPr id="18" name="Text 15"/>
          <p:cNvSpPr txBox="1"/>
          <p:nvPr/>
        </p:nvSpPr>
        <p:spPr>
          <a:xfrm>
            <a:off x="6064301" y="2189074"/>
            <a:ext cx="438912" cy="274320"/>
          </a:xfrm>
          <a:prstGeom prst="roundRect">
            <a:avLst>
              <a:gd name="adj" fmla="val 26667"/>
            </a:avLst>
          </a:prstGeom>
          <a:solidFill>
            <a:schemeClr val="bg1"/>
          </a:solidFill>
          <a:ln w="12700">
            <a:solidFill>
              <a:schemeClr val="accent4"/>
            </a:solidFill>
          </a:ln>
        </p:spPr>
        <p:txBody>
          <a:bodyPr wrap="square" lIns="0" tIns="0" rIns="0" bIns="0" rtlCol="0" anchor="ctr"/>
          <a:lstStyle/>
          <a:p>
            <a:pPr marL="0" indent="0" algn="ctr">
              <a:buNone/>
            </a:pPr>
            <a:r>
              <a:rPr lang="en-US" sz="1200" b="1" dirty="0">
                <a:solidFill>
                  <a:schemeClr val="tx1"/>
                </a:solidFill>
              </a:rPr>
              <a:t>15</a:t>
            </a:r>
            <a:endParaRPr lang="en-US" sz="1200" dirty="0"/>
          </a:p>
        </p:txBody>
      </p:sp>
      <p:sp>
        <p:nvSpPr>
          <p:cNvPr id="19" name="Text 16"/>
          <p:cNvSpPr txBox="1"/>
          <p:nvPr/>
        </p:nvSpPr>
        <p:spPr>
          <a:xfrm>
            <a:off x="7029907" y="2189074"/>
            <a:ext cx="438912" cy="274320"/>
          </a:xfrm>
          <a:prstGeom prst="roundRect">
            <a:avLst>
              <a:gd name="adj" fmla="val 26667"/>
            </a:avLst>
          </a:prstGeom>
          <a:solidFill>
            <a:schemeClr val="bg1"/>
          </a:solidFill>
          <a:ln w="12700">
            <a:solidFill>
              <a:schemeClr val="accent4"/>
            </a:solidFill>
          </a:ln>
        </p:spPr>
        <p:txBody>
          <a:bodyPr wrap="square" lIns="0" tIns="0" rIns="0" bIns="0" rtlCol="0" anchor="ctr"/>
          <a:lstStyle/>
          <a:p>
            <a:pPr marL="0" indent="0" algn="ctr">
              <a:buNone/>
            </a:pPr>
            <a:r>
              <a:rPr lang="en-US" sz="1200" b="1" dirty="0">
                <a:solidFill>
                  <a:schemeClr val="tx1"/>
                </a:solidFill>
              </a:rPr>
              <a:t>25</a:t>
            </a:r>
            <a:endParaRPr lang="en-US" sz="1200" dirty="0"/>
          </a:p>
        </p:txBody>
      </p:sp>
      <p:sp>
        <p:nvSpPr>
          <p:cNvPr id="20" name="Text 17"/>
          <p:cNvSpPr txBox="1"/>
          <p:nvPr/>
        </p:nvSpPr>
        <p:spPr>
          <a:xfrm>
            <a:off x="5394960" y="1463040"/>
            <a:ext cx="548640" cy="548640"/>
          </a:xfrm>
          <a:prstGeom prst="ellipse">
            <a:avLst/>
          </a:prstGeom>
          <a:solidFill>
            <a:schemeClr val="accent3"/>
          </a:solidFill>
          <a:ln w="22225">
            <a:solidFill>
              <a:schemeClr val="tx1"/>
            </a:solidFill>
          </a:ln>
        </p:spPr>
        <p:txBody>
          <a:bodyPr wrap="square" lIns="0" tIns="0" rIns="0" bIns="0" rtlCol="0" anchor="ctr"/>
          <a:lstStyle/>
          <a:p>
            <a:pPr marL="0" indent="0" algn="ctr">
              <a:buNone/>
            </a:pPr>
            <a:r>
              <a:rPr lang="en-US" sz="1600" b="1" dirty="0">
                <a:solidFill>
                  <a:schemeClr val="tx1"/>
                </a:solidFill>
              </a:rPr>
              <a:t>A</a:t>
            </a:r>
            <a:endParaRPr lang="en-US" sz="1600" dirty="0"/>
          </a:p>
        </p:txBody>
      </p:sp>
      <p:sp>
        <p:nvSpPr>
          <p:cNvPr id="21" name="Text 18"/>
          <p:cNvSpPr txBox="1"/>
          <p:nvPr/>
        </p:nvSpPr>
        <p:spPr>
          <a:xfrm>
            <a:off x="7589520" y="1463040"/>
            <a:ext cx="548640" cy="548640"/>
          </a:xfrm>
          <a:prstGeom prst="ellipse">
            <a:avLst/>
          </a:prstGeom>
          <a:solidFill>
            <a:schemeClr val="accent1"/>
          </a:solidFill>
          <a:ln w="22225">
            <a:solidFill>
              <a:schemeClr val="tx1"/>
            </a:solidFill>
          </a:ln>
        </p:spPr>
        <p:txBody>
          <a:bodyPr wrap="square" lIns="0" tIns="0" rIns="0" bIns="0" rtlCol="0" anchor="ctr"/>
          <a:lstStyle/>
          <a:p>
            <a:pPr marL="0" indent="0" algn="ctr">
              <a:buNone/>
            </a:pPr>
            <a:r>
              <a:rPr lang="en-US" sz="1600" b="1" dirty="0">
                <a:solidFill>
                  <a:schemeClr val="tx1"/>
                </a:solidFill>
              </a:rPr>
              <a:t>B</a:t>
            </a:r>
            <a:endParaRPr lang="en-US" sz="1600" dirty="0"/>
          </a:p>
        </p:txBody>
      </p:sp>
      <p:sp>
        <p:nvSpPr>
          <p:cNvPr id="22" name="Text 19"/>
          <p:cNvSpPr txBox="1"/>
          <p:nvPr/>
        </p:nvSpPr>
        <p:spPr>
          <a:xfrm>
            <a:off x="7589520" y="3566160"/>
            <a:ext cx="548640" cy="548640"/>
          </a:xfrm>
          <a:prstGeom prst="ellipse">
            <a:avLst/>
          </a:prstGeom>
          <a:solidFill>
            <a:schemeClr val="accent1"/>
          </a:solidFill>
          <a:ln w="22225">
            <a:solidFill>
              <a:schemeClr val="tx1"/>
            </a:solidFill>
          </a:ln>
        </p:spPr>
        <p:txBody>
          <a:bodyPr wrap="square" lIns="0" tIns="0" rIns="0" bIns="0" rtlCol="0" anchor="ctr"/>
          <a:lstStyle/>
          <a:p>
            <a:pPr marL="0" indent="0" algn="ctr">
              <a:buNone/>
            </a:pPr>
            <a:r>
              <a:rPr lang="en-US" sz="1600" b="1" dirty="0">
                <a:solidFill>
                  <a:schemeClr val="tx1"/>
                </a:solidFill>
              </a:rPr>
              <a:t>C</a:t>
            </a:r>
            <a:endParaRPr lang="en-US" sz="1600" dirty="0"/>
          </a:p>
        </p:txBody>
      </p:sp>
      <p:sp>
        <p:nvSpPr>
          <p:cNvPr id="23" name="Text 20"/>
          <p:cNvSpPr txBox="1"/>
          <p:nvPr/>
        </p:nvSpPr>
        <p:spPr>
          <a:xfrm>
            <a:off x="5394960" y="3566160"/>
            <a:ext cx="548640" cy="548640"/>
          </a:xfrm>
          <a:prstGeom prst="ellipse">
            <a:avLst/>
          </a:prstGeom>
          <a:solidFill>
            <a:schemeClr val="accent1"/>
          </a:solidFill>
          <a:ln w="22225">
            <a:solidFill>
              <a:schemeClr val="tx1"/>
            </a:solidFill>
          </a:ln>
        </p:spPr>
        <p:txBody>
          <a:bodyPr wrap="square" lIns="0" tIns="0" rIns="0" bIns="0" rtlCol="0" anchor="ctr"/>
          <a:lstStyle/>
          <a:p>
            <a:pPr marL="0" indent="0" algn="ctr">
              <a:buNone/>
            </a:pPr>
            <a:r>
              <a:rPr lang="en-US" sz="1600" b="1" dirty="0">
                <a:solidFill>
                  <a:schemeClr val="tx1"/>
                </a:solidFill>
              </a:rPr>
              <a:t>D</a:t>
            </a:r>
            <a:endParaRPr lang="en-US" sz="1600" dirty="0"/>
          </a:p>
        </p:txBody>
      </p:sp>
      <p:sp>
        <p:nvSpPr>
          <p:cNvPr id="24" name="Text 21"/>
          <p:cNvSpPr txBox="1"/>
          <p:nvPr/>
        </p:nvSpPr>
        <p:spPr>
          <a:xfrm>
            <a:off x="4846320" y="1618488"/>
            <a:ext cx="475488" cy="228600"/>
          </a:xfrm>
          <a:prstGeom prst="rect">
            <a:avLst/>
          </a:prstGeom>
          <a:noFill/>
          <a:ln/>
        </p:spPr>
        <p:txBody>
          <a:bodyPr wrap="square" lIns="0" tIns="0" rIns="0" bIns="0" rtlCol="0" anchor="t"/>
          <a:lstStyle/>
          <a:p>
            <a:pPr marL="0" indent="0" algn="r">
              <a:buNone/>
            </a:pPr>
            <a:r>
              <a:rPr lang="en-US" sz="1100" b="1" dirty="0">
                <a:solidFill>
                  <a:schemeClr val="accent6"/>
                </a:solidFill>
              </a:rPr>
              <a:t>Start</a:t>
            </a:r>
            <a:endParaRPr lang="en-US" sz="1100" dirty="0"/>
          </a:p>
        </p:txBody>
      </p:sp>
      <p:sp>
        <p:nvSpPr>
          <p:cNvPr id="25" name="Text 22"/>
          <p:cNvSpPr txBox="1"/>
          <p:nvPr/>
        </p:nvSpPr>
        <p:spPr>
          <a:xfrm>
            <a:off x="4846320" y="4206240"/>
            <a:ext cx="3840480" cy="256032"/>
          </a:xfrm>
          <a:prstGeom prst="rect">
            <a:avLst/>
          </a:prstGeom>
          <a:noFill/>
          <a:ln/>
        </p:spPr>
        <p:txBody>
          <a:bodyPr wrap="square" lIns="0" tIns="0" rIns="0" bIns="0" rtlCol="0" anchor="t"/>
          <a:lstStyle/>
          <a:p>
            <a:pPr marL="0" indent="0" algn="ctr">
              <a:buNone/>
            </a:pPr>
            <a:r>
              <a:rPr lang="en-US" sz="1200" i="1" dirty="0">
                <a:solidFill>
                  <a:schemeClr val="tx2"/>
                </a:solidFill>
              </a:rPr>
              <a:t>Edge label = distance in km</a:t>
            </a:r>
            <a:endParaRPr lang="en-US" sz="1200" dirty="0"/>
          </a:p>
        </p:txBody>
      </p:sp>
      <p:sp>
        <p:nvSpPr>
          <p:cNvPr id="26"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1"/>
                </a:solidFill>
              </a:rPr>
              <a:t>Dry Run: Evaluating Every Tour</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45720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gridCol w="1737360">
                  <a:extLst>
                    <a:ext uri="{9D8B030D-6E8A-4147-A177-3AD203B41FA5}">
                      <a16:colId xmlns:a16="http://schemas.microsoft.com/office/drawing/2014/main" val="20005"/>
                    </a:ext>
                  </a:extLst>
                </a:gridCol>
              </a:tblGrid>
              <a:tr h="384048">
                <a:tc>
                  <a:txBody>
                    <a:bodyPr/>
                    <a:lstStyle/>
                    <a:p>
                      <a:pPr marL="0" indent="0" algn="ctr">
                        <a:buNone/>
                      </a:pPr>
                      <a:r>
                        <a:rPr lang="en-US" sz="1300" b="1" dirty="0">
                          <a:solidFill>
                            <a:schemeClr val="tx1"/>
                          </a:solidFill>
                        </a:rPr>
                        <a:t>#</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1"/>
                    </a:solidFill>
                  </a:tcPr>
                </a:tc>
                <a:tc>
                  <a:txBody>
                    <a:bodyPr/>
                    <a:lstStyle/>
                    <a:p>
                      <a:pPr marL="0" indent="0" algn="ctr">
                        <a:buNone/>
                      </a:pPr>
                      <a:r>
                        <a:rPr lang="en-US" sz="1300" b="1" dirty="0">
                          <a:solidFill>
                            <a:schemeClr val="tx1"/>
                          </a:solidFill>
                        </a:rPr>
                        <a:t>Order of B, C, D</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1"/>
                    </a:solidFill>
                  </a:tcPr>
                </a:tc>
                <a:tc>
                  <a:txBody>
                    <a:bodyPr/>
                    <a:lstStyle/>
                    <a:p>
                      <a:pPr marL="0" indent="0" algn="ctr">
                        <a:buNone/>
                      </a:pPr>
                      <a:r>
                        <a:rPr lang="en-US" sz="1300" b="1" dirty="0">
                          <a:solidFill>
                            <a:schemeClr val="tx1"/>
                          </a:solidFill>
                        </a:rPr>
                        <a:t>Tour</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1"/>
                    </a:solidFill>
                  </a:tcPr>
                </a:tc>
                <a:tc>
                  <a:txBody>
                    <a:bodyPr/>
                    <a:lstStyle/>
                    <a:p>
                      <a:pPr marL="0" indent="0" algn="ctr">
                        <a:buNone/>
                      </a:pPr>
                      <a:r>
                        <a:rPr lang="en-US" sz="1300" b="1" dirty="0">
                          <a:solidFill>
                            <a:schemeClr val="tx1"/>
                          </a:solidFill>
                        </a:rPr>
                        <a:t>Cost calculation (km)</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1"/>
                    </a:solidFill>
                  </a:tcPr>
                </a:tc>
                <a:tc>
                  <a:txBody>
                    <a:bodyPr/>
                    <a:lstStyle/>
                    <a:p>
                      <a:pPr marL="0" indent="0" algn="ctr">
                        <a:buNone/>
                      </a:pPr>
                      <a:r>
                        <a:rPr lang="en-US" sz="1300" b="1" dirty="0">
                          <a:solidFill>
                            <a:schemeClr val="tx1"/>
                          </a:solidFill>
                        </a:rPr>
                        <a:t>Total</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1"/>
                    </a:solidFill>
                  </a:tcPr>
                </a:tc>
                <a:tc>
                  <a:txBody>
                    <a:bodyPr/>
                    <a:lstStyle/>
                    <a:p>
                      <a:pPr marL="0" indent="0" algn="ctr">
                        <a:buNone/>
                      </a:pPr>
                      <a:r>
                        <a:rPr lang="en-US" sz="1300" b="1" dirty="0">
                          <a:solidFill>
                            <a:schemeClr val="tx1"/>
                          </a:solidFill>
                        </a:rPr>
                        <a:t>Best so far</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384048">
                <a:tc>
                  <a:txBody>
                    <a:bodyPr/>
                    <a:lstStyle/>
                    <a:p>
                      <a:pPr marL="0" indent="0" algn="ctr">
                        <a:buNone/>
                      </a:pPr>
                      <a:r>
                        <a:rPr lang="en-US" sz="1300" dirty="0">
                          <a:solidFill>
                            <a:schemeClr val="tx1"/>
                          </a:solidFill>
                        </a:rPr>
                        <a:t>1</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B C D</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A→B→C→D→A</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10 + 35 + 30 + 20</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marL="0" indent="0" algn="ctr">
                        <a:buNone/>
                      </a:pPr>
                      <a:r>
                        <a:rPr lang="en-US" sz="1300" b="1" dirty="0">
                          <a:solidFill>
                            <a:schemeClr val="tx1"/>
                          </a:solidFill>
                        </a:rPr>
                        <a:t>95</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95  (first tour)</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84048">
                <a:tc>
                  <a:txBody>
                    <a:bodyPr/>
                    <a:lstStyle/>
                    <a:p>
                      <a:pPr marL="0" indent="0" algn="ctr">
                        <a:buNone/>
                      </a:pPr>
                      <a:r>
                        <a:rPr lang="en-US" sz="1300" dirty="0">
                          <a:solidFill>
                            <a:schemeClr val="tx1"/>
                          </a:solidFill>
                        </a:rPr>
                        <a:t>2</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2"/>
                    </a:solidFill>
                  </a:tcPr>
                </a:tc>
                <a:tc>
                  <a:txBody>
                    <a:bodyPr/>
                    <a:lstStyle/>
                    <a:p>
                      <a:pPr marL="0" indent="0" algn="ctr">
                        <a:buNone/>
                      </a:pPr>
                      <a:r>
                        <a:rPr lang="en-US" sz="1300" dirty="0">
                          <a:solidFill>
                            <a:schemeClr val="tx1"/>
                          </a:solidFill>
                        </a:rPr>
                        <a:t>B D C</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2"/>
                    </a:solidFill>
                  </a:tcPr>
                </a:tc>
                <a:tc>
                  <a:txBody>
                    <a:bodyPr/>
                    <a:lstStyle/>
                    <a:p>
                      <a:pPr marL="0" indent="0" algn="ctr">
                        <a:buNone/>
                      </a:pPr>
                      <a:r>
                        <a:rPr lang="en-US" sz="1300" dirty="0">
                          <a:solidFill>
                            <a:schemeClr val="tx1"/>
                          </a:solidFill>
                        </a:rPr>
                        <a:t>A→B→D→C→A</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2"/>
                    </a:solidFill>
                  </a:tcPr>
                </a:tc>
                <a:tc>
                  <a:txBody>
                    <a:bodyPr/>
                    <a:lstStyle/>
                    <a:p>
                      <a:pPr marL="0" indent="0" algn="ctr">
                        <a:buNone/>
                      </a:pPr>
                      <a:r>
                        <a:rPr lang="en-US" sz="1300" dirty="0">
                          <a:solidFill>
                            <a:schemeClr val="tx1"/>
                          </a:solidFill>
                        </a:rPr>
                        <a:t>10 + 25 + 30 + 15</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2"/>
                    </a:solidFill>
                  </a:tcPr>
                </a:tc>
                <a:tc>
                  <a:txBody>
                    <a:bodyPr/>
                    <a:lstStyle/>
                    <a:p>
                      <a:pPr marL="0" indent="0" algn="ctr">
                        <a:buNone/>
                      </a:pPr>
                      <a:r>
                        <a:rPr lang="en-US" sz="1300" b="1" dirty="0">
                          <a:solidFill>
                            <a:schemeClr val="tx1"/>
                          </a:solidFill>
                        </a:rPr>
                        <a:t>80</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2"/>
                    </a:solidFill>
                  </a:tcPr>
                </a:tc>
                <a:tc>
                  <a:txBody>
                    <a:bodyPr/>
                    <a:lstStyle/>
                    <a:p>
                      <a:pPr marL="0" indent="0" algn="ctr">
                        <a:buNone/>
                      </a:pPr>
                      <a:r>
                        <a:rPr lang="en-US" sz="1300" b="1" dirty="0">
                          <a:solidFill>
                            <a:schemeClr val="tx1"/>
                          </a:solidFill>
                        </a:rPr>
                        <a:t>80  (updated)</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2"/>
                    </a:solidFill>
                  </a:tcPr>
                </a:tc>
                <a:extLst>
                  <a:ext uri="{0D108BD9-81ED-4DB2-BD59-A6C34878D82A}">
                    <a16:rowId xmlns:a16="http://schemas.microsoft.com/office/drawing/2014/main" val="10002"/>
                  </a:ext>
                </a:extLst>
              </a:tr>
              <a:tr h="384048">
                <a:tc>
                  <a:txBody>
                    <a:bodyPr/>
                    <a:lstStyle/>
                    <a:p>
                      <a:pPr marL="0" indent="0" algn="ctr">
                        <a:buNone/>
                      </a:pPr>
                      <a:r>
                        <a:rPr lang="en-US" sz="1300" dirty="0">
                          <a:solidFill>
                            <a:schemeClr val="tx1"/>
                          </a:solidFill>
                        </a:rPr>
                        <a:t>3</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C B D</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A→C→B→D→A</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15 + 35 + 25 + 20</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marL="0" indent="0" algn="ctr">
                        <a:buNone/>
                      </a:pPr>
                      <a:r>
                        <a:rPr lang="en-US" sz="1300" b="1" dirty="0">
                          <a:solidFill>
                            <a:schemeClr val="tx1"/>
                          </a:solidFill>
                        </a:rPr>
                        <a:t>95</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80  (95 ≥ 80)</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84048">
                <a:tc>
                  <a:txBody>
                    <a:bodyPr/>
                    <a:lstStyle/>
                    <a:p>
                      <a:pPr marL="0" indent="0" algn="ctr">
                        <a:buNone/>
                      </a:pPr>
                      <a:r>
                        <a:rPr lang="en-US" sz="1300" dirty="0">
                          <a:solidFill>
                            <a:schemeClr val="tx1"/>
                          </a:solidFill>
                        </a:rPr>
                        <a:t>4</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3"/>
                    </a:solidFill>
                  </a:tcPr>
                </a:tc>
                <a:tc>
                  <a:txBody>
                    <a:bodyPr/>
                    <a:lstStyle/>
                    <a:p>
                      <a:pPr marL="0" indent="0" algn="ctr">
                        <a:buNone/>
                      </a:pPr>
                      <a:r>
                        <a:rPr lang="en-US" sz="1300" dirty="0">
                          <a:solidFill>
                            <a:schemeClr val="tx1"/>
                          </a:solidFill>
                        </a:rPr>
                        <a:t>C D B</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3"/>
                    </a:solidFill>
                  </a:tcPr>
                </a:tc>
                <a:tc>
                  <a:txBody>
                    <a:bodyPr/>
                    <a:lstStyle/>
                    <a:p>
                      <a:pPr marL="0" indent="0" algn="ctr">
                        <a:buNone/>
                      </a:pPr>
                      <a:r>
                        <a:rPr lang="en-US" sz="1300" dirty="0">
                          <a:solidFill>
                            <a:schemeClr val="tx1"/>
                          </a:solidFill>
                        </a:rPr>
                        <a:t>A→C→D→B→A</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3"/>
                    </a:solidFill>
                  </a:tcPr>
                </a:tc>
                <a:tc>
                  <a:txBody>
                    <a:bodyPr/>
                    <a:lstStyle/>
                    <a:p>
                      <a:pPr marL="0" indent="0" algn="ctr">
                        <a:buNone/>
                      </a:pPr>
                      <a:r>
                        <a:rPr lang="en-US" sz="1300" dirty="0">
                          <a:solidFill>
                            <a:schemeClr val="tx1"/>
                          </a:solidFill>
                        </a:rPr>
                        <a:t>15 + 30 + 25 + 10</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3"/>
                    </a:solidFill>
                  </a:tcPr>
                </a:tc>
                <a:tc>
                  <a:txBody>
                    <a:bodyPr/>
                    <a:lstStyle/>
                    <a:p>
                      <a:pPr marL="0" indent="0" algn="ctr">
                        <a:buNone/>
                      </a:pPr>
                      <a:r>
                        <a:rPr lang="en-US" sz="1300" b="1" dirty="0">
                          <a:solidFill>
                            <a:schemeClr val="tx1"/>
                          </a:solidFill>
                        </a:rPr>
                        <a:t>80</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3"/>
                    </a:solidFill>
                  </a:tcPr>
                </a:tc>
                <a:tc>
                  <a:txBody>
                    <a:bodyPr/>
                    <a:lstStyle/>
                    <a:p>
                      <a:pPr marL="0" indent="0" algn="ctr">
                        <a:buNone/>
                      </a:pPr>
                      <a:r>
                        <a:rPr lang="en-US" sz="1300" dirty="0">
                          <a:solidFill>
                            <a:schemeClr val="tx1"/>
                          </a:solidFill>
                        </a:rPr>
                        <a:t>80  (80 ≮ 80)</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3"/>
                    </a:solidFill>
                  </a:tcPr>
                </a:tc>
                <a:extLst>
                  <a:ext uri="{0D108BD9-81ED-4DB2-BD59-A6C34878D82A}">
                    <a16:rowId xmlns:a16="http://schemas.microsoft.com/office/drawing/2014/main" val="10004"/>
                  </a:ext>
                </a:extLst>
              </a:tr>
              <a:tr h="384048">
                <a:tc>
                  <a:txBody>
                    <a:bodyPr/>
                    <a:lstStyle/>
                    <a:p>
                      <a:pPr marL="0" indent="0" algn="ctr">
                        <a:buNone/>
                      </a:pPr>
                      <a:r>
                        <a:rPr lang="en-US" sz="1300" dirty="0">
                          <a:solidFill>
                            <a:schemeClr val="tx1"/>
                          </a:solidFill>
                        </a:rPr>
                        <a:t>5</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D B C</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A→D→B→C→A</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20 + 25 + 35 + 15</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marL="0" indent="0" algn="ctr">
                        <a:buNone/>
                      </a:pPr>
                      <a:r>
                        <a:rPr lang="en-US" sz="1300" b="1" dirty="0">
                          <a:solidFill>
                            <a:schemeClr val="tx1"/>
                          </a:solidFill>
                        </a:rPr>
                        <a:t>95</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80  (95 ≥ 80)</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84048">
                <a:tc>
                  <a:txBody>
                    <a:bodyPr/>
                    <a:lstStyle/>
                    <a:p>
                      <a:pPr marL="0" indent="0" algn="ctr">
                        <a:buNone/>
                      </a:pPr>
                      <a:r>
                        <a:rPr lang="en-US" sz="1300" dirty="0">
                          <a:solidFill>
                            <a:schemeClr val="tx1"/>
                          </a:solidFill>
                        </a:rPr>
                        <a:t>6</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D C B</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A→D→C→B→A</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20 + 30 + 35 + 10</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marL="0" indent="0" algn="ctr">
                        <a:buNone/>
                      </a:pPr>
                      <a:r>
                        <a:rPr lang="en-US" sz="1300" b="1" dirty="0">
                          <a:solidFill>
                            <a:schemeClr val="tx1"/>
                          </a:solidFill>
                        </a:rPr>
                        <a:t>95</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80  (95 ≥ 80)</a:t>
                      </a:r>
                      <a:endParaRPr lang="en-US" sz="13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4" name="Text 1"/>
          <p:cNvSpPr txBox="1"/>
          <p:nvPr/>
        </p:nvSpPr>
        <p:spPr>
          <a:xfrm>
            <a:off x="457200" y="4114800"/>
            <a:ext cx="228600" cy="228600"/>
          </a:xfrm>
          <a:prstGeom prst="rect">
            <a:avLst/>
          </a:prstGeom>
          <a:solidFill>
            <a:schemeClr val="accent2"/>
          </a:solidFill>
          <a:ln w="12700">
            <a:solidFill>
              <a:schemeClr val="accent5"/>
            </a:solidFill>
          </a:ln>
        </p:spPr>
        <p:txBody>
          <a:bodyPr wrap="square" lIns="50800" tIns="50800" rIns="50800" bIns="50800" rtlCol="0" anchor="ctr"/>
          <a:lstStyle/>
          <a:p>
            <a:pPr marL="0" indent="0" algn="ctr">
              <a:buNone/>
            </a:pPr>
            <a:endParaRPr lang="en-US" sz="1200" dirty="0"/>
          </a:p>
        </p:txBody>
      </p:sp>
      <p:sp>
        <p:nvSpPr>
          <p:cNvPr id="5" name="Text 2"/>
          <p:cNvSpPr txBox="1"/>
          <p:nvPr/>
        </p:nvSpPr>
        <p:spPr>
          <a:xfrm>
            <a:off x="777240" y="4114800"/>
            <a:ext cx="3291840" cy="228600"/>
          </a:xfrm>
          <a:prstGeom prst="rect">
            <a:avLst/>
          </a:prstGeom>
          <a:noFill/>
          <a:ln/>
        </p:spPr>
        <p:txBody>
          <a:bodyPr wrap="square" lIns="0" tIns="0" rIns="0" bIns="0" rtlCol="0" anchor="ctr"/>
          <a:lstStyle/>
          <a:p>
            <a:pPr marL="0" indent="0" algn="l">
              <a:buNone/>
            </a:pPr>
            <a:r>
              <a:rPr lang="en-US" sz="1200" dirty="0">
                <a:solidFill>
                  <a:schemeClr val="tx1"/>
                </a:solidFill>
              </a:rPr>
              <a:t>Best tour found (update happens here)</a:t>
            </a:r>
            <a:endParaRPr lang="en-US" sz="1200" dirty="0"/>
          </a:p>
        </p:txBody>
      </p:sp>
      <p:sp>
        <p:nvSpPr>
          <p:cNvPr id="6" name="Text 3"/>
          <p:cNvSpPr txBox="1"/>
          <p:nvPr/>
        </p:nvSpPr>
        <p:spPr>
          <a:xfrm>
            <a:off x="4206240" y="4114800"/>
            <a:ext cx="228600" cy="228600"/>
          </a:xfrm>
          <a:prstGeom prst="rect">
            <a:avLst/>
          </a:prstGeom>
          <a:solidFill>
            <a:schemeClr val="accent3"/>
          </a:solidFill>
          <a:ln w="12700">
            <a:solidFill>
              <a:schemeClr val="accent6"/>
            </a:solidFill>
          </a:ln>
        </p:spPr>
        <p:txBody>
          <a:bodyPr wrap="square" lIns="50800" tIns="50800" rIns="50800" bIns="50800" rtlCol="0" anchor="ctr"/>
          <a:lstStyle/>
          <a:p>
            <a:pPr marL="0" indent="0" algn="ctr">
              <a:buNone/>
            </a:pPr>
            <a:endParaRPr lang="en-US" sz="1200" dirty="0"/>
          </a:p>
        </p:txBody>
      </p:sp>
      <p:sp>
        <p:nvSpPr>
          <p:cNvPr id="3" name="Text 4"/>
          <p:cNvSpPr txBox="1"/>
          <p:nvPr/>
        </p:nvSpPr>
        <p:spPr>
          <a:xfrm>
            <a:off x="4526280" y="4114800"/>
            <a:ext cx="4114800" cy="228600"/>
          </a:xfrm>
          <a:prstGeom prst="rect">
            <a:avLst/>
          </a:prstGeom>
          <a:noFill/>
          <a:ln/>
        </p:spPr>
        <p:txBody>
          <a:bodyPr wrap="square" lIns="0" tIns="0" rIns="0" bIns="0" rtlCol="0" anchor="ctr"/>
          <a:lstStyle/>
          <a:p>
            <a:pPr marL="0" indent="0" algn="l">
              <a:buNone/>
            </a:pPr>
            <a:r>
              <a:rPr lang="en-US" sz="1200" dirty="0">
                <a:solidFill>
                  <a:schemeClr val="tx1"/>
                </a:solidFill>
              </a:rPr>
              <a:t>Same cost, reverse direction (no update)</a:t>
            </a:r>
            <a:endParaRPr lang="en-US" sz="1200" dirty="0"/>
          </a:p>
        </p:txBody>
      </p:sp>
      <p:sp>
        <p:nvSpPr>
          <p:cNvPr id="8" name="Text 5"/>
          <p:cNvSpPr txBox="1"/>
          <p:nvPr/>
        </p:nvSpPr>
        <p:spPr>
          <a:xfrm>
            <a:off x="457200" y="4434840"/>
            <a:ext cx="8229600" cy="228600"/>
          </a:xfrm>
          <a:prstGeom prst="rect">
            <a:avLst/>
          </a:prstGeom>
          <a:noFill/>
          <a:ln/>
        </p:spPr>
        <p:txBody>
          <a:bodyPr wrap="square" lIns="0" tIns="0" rIns="0" bIns="0" rtlCol="0" anchor="t"/>
          <a:lstStyle/>
          <a:p>
            <a:pPr marL="0" indent="0" algn="l">
              <a:buNone/>
            </a:pPr>
            <a:r>
              <a:rPr lang="en-US" sz="1200" i="1" dirty="0">
                <a:solidFill>
                  <a:schemeClr val="tx2"/>
                </a:solidFill>
              </a:rPr>
              <a:t>Rows 4–6 are the reverses of rows 2, 3 and 1, so only (4−1)!/2 = 3 tours are distinct.</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1"/>
                </a:solidFill>
              </a:rPr>
              <a:t>Final Result: Optimal Tour</a:t>
            </a:r>
            <a:endParaRPr lang="en-US" sz="3200" dirty="0"/>
          </a:p>
        </p:txBody>
      </p:sp>
      <p:sp>
        <p:nvSpPr>
          <p:cNvPr id="3" name="Text 1"/>
          <p:cNvSpPr txBox="1"/>
          <p:nvPr/>
        </p:nvSpPr>
        <p:spPr>
          <a:xfrm>
            <a:off x="457200" y="1234440"/>
            <a:ext cx="4114800" cy="3291840"/>
          </a:xfrm>
          <a:prstGeom prst="roundRect">
            <a:avLst>
              <a:gd name="adj" fmla="val 2222"/>
            </a:avLst>
          </a:prstGeom>
          <a:solidFill>
            <a:schemeClr val="bg2"/>
          </a:solidFill>
          <a:ln w="12700">
            <a:solidFill>
              <a:schemeClr val="bg2"/>
            </a:solidFill>
          </a:ln>
        </p:spPr>
        <p:txBody>
          <a:bodyPr wrap="square" lIns="50800" tIns="50800" rIns="50800" bIns="50800" rtlCol="0" anchor="ctr"/>
          <a:lstStyle/>
          <a:p>
            <a:pPr marL="0" indent="0" algn="ctr">
              <a:buNone/>
            </a:pPr>
            <a:endParaRPr lang="en-US" sz="1200" dirty="0"/>
          </a:p>
        </p:txBody>
      </p:sp>
      <p:sp>
        <p:nvSpPr>
          <p:cNvPr id="4" name="Shape 2"/>
          <p:cNvSpPr/>
          <p:nvPr/>
        </p:nvSpPr>
        <p:spPr>
          <a:xfrm>
            <a:off x="3566160" y="1783080"/>
            <a:ext cx="0" cy="2057400"/>
          </a:xfrm>
          <a:prstGeom prst="line">
            <a:avLst/>
          </a:prstGeom>
          <a:noFill/>
          <a:ln w="15875">
            <a:solidFill>
              <a:schemeClr val="accent4"/>
            </a:solidFill>
            <a:prstDash val="dash"/>
          </a:ln>
        </p:spPr>
      </p:sp>
      <p:sp>
        <p:nvSpPr>
          <p:cNvPr id="5" name="Shape 3"/>
          <p:cNvSpPr/>
          <p:nvPr/>
        </p:nvSpPr>
        <p:spPr>
          <a:xfrm flipV="1">
            <a:off x="1371600" y="1783080"/>
            <a:ext cx="0" cy="2057400"/>
          </a:xfrm>
          <a:prstGeom prst="line">
            <a:avLst/>
          </a:prstGeom>
          <a:noFill/>
          <a:ln w="15875">
            <a:solidFill>
              <a:schemeClr val="accent4"/>
            </a:solidFill>
            <a:prstDash val="dash"/>
          </a:ln>
        </p:spPr>
      </p:sp>
      <p:sp>
        <p:nvSpPr>
          <p:cNvPr id="6" name="Shape 4"/>
          <p:cNvSpPr/>
          <p:nvPr/>
        </p:nvSpPr>
        <p:spPr>
          <a:xfrm>
            <a:off x="1645920" y="1783080"/>
            <a:ext cx="1645920" cy="0"/>
          </a:xfrm>
          <a:prstGeom prst="line">
            <a:avLst/>
          </a:prstGeom>
          <a:noFill/>
          <a:ln w="50800">
            <a:solidFill>
              <a:schemeClr val="accent5"/>
            </a:solidFill>
            <a:prstDash val="solid"/>
            <a:tailEnd type="triangle"/>
          </a:ln>
        </p:spPr>
      </p:sp>
      <p:sp>
        <p:nvSpPr>
          <p:cNvPr id="7" name="Shape 5"/>
          <p:cNvSpPr/>
          <p:nvPr/>
        </p:nvSpPr>
        <p:spPr>
          <a:xfrm flipH="1">
            <a:off x="1571727" y="1970699"/>
            <a:ext cx="1794307" cy="1682163"/>
          </a:xfrm>
          <a:prstGeom prst="line">
            <a:avLst/>
          </a:prstGeom>
          <a:noFill/>
          <a:ln w="50800">
            <a:solidFill>
              <a:schemeClr val="accent5"/>
            </a:solidFill>
            <a:prstDash val="solid"/>
            <a:tailEnd type="triangle"/>
          </a:ln>
        </p:spPr>
      </p:sp>
      <p:sp>
        <p:nvSpPr>
          <p:cNvPr id="8" name="Shape 6"/>
          <p:cNvSpPr/>
          <p:nvPr/>
        </p:nvSpPr>
        <p:spPr>
          <a:xfrm>
            <a:off x="1645920" y="3840480"/>
            <a:ext cx="1645920" cy="0"/>
          </a:xfrm>
          <a:prstGeom prst="line">
            <a:avLst/>
          </a:prstGeom>
          <a:noFill/>
          <a:ln w="50800">
            <a:solidFill>
              <a:schemeClr val="accent5"/>
            </a:solidFill>
            <a:prstDash val="solid"/>
            <a:tailEnd type="triangle"/>
          </a:ln>
        </p:spPr>
      </p:sp>
      <p:sp>
        <p:nvSpPr>
          <p:cNvPr id="9" name="Shape 7"/>
          <p:cNvSpPr/>
          <p:nvPr/>
        </p:nvSpPr>
        <p:spPr>
          <a:xfrm flipH="1" flipV="1">
            <a:off x="1571727" y="1970699"/>
            <a:ext cx="1794307" cy="1682163"/>
          </a:xfrm>
          <a:prstGeom prst="line">
            <a:avLst/>
          </a:prstGeom>
          <a:noFill/>
          <a:ln w="50800">
            <a:solidFill>
              <a:schemeClr val="accent5"/>
            </a:solidFill>
            <a:prstDash val="solid"/>
            <a:tailEnd type="triangle"/>
          </a:ln>
        </p:spPr>
      </p:sp>
      <p:sp>
        <p:nvSpPr>
          <p:cNvPr id="10" name="Text 8"/>
          <p:cNvSpPr txBox="1"/>
          <p:nvPr/>
        </p:nvSpPr>
        <p:spPr>
          <a:xfrm>
            <a:off x="2249424" y="1645920"/>
            <a:ext cx="438912" cy="274320"/>
          </a:xfrm>
          <a:prstGeom prst="roundRect">
            <a:avLst>
              <a:gd name="adj" fmla="val 26667"/>
            </a:avLst>
          </a:prstGeom>
          <a:solidFill>
            <a:schemeClr val="accent2"/>
          </a:solidFill>
          <a:ln w="12700">
            <a:solidFill>
              <a:schemeClr val="accent5"/>
            </a:solidFill>
          </a:ln>
        </p:spPr>
        <p:txBody>
          <a:bodyPr wrap="square" lIns="0" tIns="0" rIns="0" bIns="0" rtlCol="0" anchor="ctr"/>
          <a:lstStyle/>
          <a:p>
            <a:pPr marL="0" indent="0" algn="ctr">
              <a:buNone/>
            </a:pPr>
            <a:r>
              <a:rPr lang="en-US" sz="1200" b="1" dirty="0">
                <a:solidFill>
                  <a:schemeClr val="tx1"/>
                </a:solidFill>
              </a:rPr>
              <a:t>10</a:t>
            </a:r>
            <a:endParaRPr lang="en-US" sz="1200" dirty="0"/>
          </a:p>
        </p:txBody>
      </p:sp>
      <p:sp>
        <p:nvSpPr>
          <p:cNvPr id="11" name="Text 9"/>
          <p:cNvSpPr txBox="1"/>
          <p:nvPr/>
        </p:nvSpPr>
        <p:spPr>
          <a:xfrm>
            <a:off x="3346704" y="2674620"/>
            <a:ext cx="438912" cy="274320"/>
          </a:xfrm>
          <a:prstGeom prst="roundRect">
            <a:avLst>
              <a:gd name="adj" fmla="val 26667"/>
            </a:avLst>
          </a:prstGeom>
          <a:solidFill>
            <a:schemeClr val="bg1"/>
          </a:solidFill>
          <a:ln w="12700">
            <a:solidFill>
              <a:schemeClr val="accent4"/>
            </a:solidFill>
          </a:ln>
        </p:spPr>
        <p:txBody>
          <a:bodyPr wrap="square" lIns="0" tIns="0" rIns="0" bIns="0" rtlCol="0" anchor="ctr"/>
          <a:lstStyle/>
          <a:p>
            <a:pPr marL="0" indent="0" algn="ctr">
              <a:buNone/>
            </a:pPr>
            <a:r>
              <a:rPr lang="en-US" sz="1200" b="1" dirty="0">
                <a:solidFill>
                  <a:schemeClr val="tx1"/>
                </a:solidFill>
              </a:rPr>
              <a:t>35</a:t>
            </a:r>
            <a:endParaRPr lang="en-US" sz="1200" dirty="0"/>
          </a:p>
        </p:txBody>
      </p:sp>
      <p:sp>
        <p:nvSpPr>
          <p:cNvPr id="12" name="Text 10"/>
          <p:cNvSpPr txBox="1"/>
          <p:nvPr/>
        </p:nvSpPr>
        <p:spPr>
          <a:xfrm>
            <a:off x="2249424" y="3703320"/>
            <a:ext cx="438912" cy="274320"/>
          </a:xfrm>
          <a:prstGeom prst="roundRect">
            <a:avLst>
              <a:gd name="adj" fmla="val 26667"/>
            </a:avLst>
          </a:prstGeom>
          <a:solidFill>
            <a:schemeClr val="accent2"/>
          </a:solidFill>
          <a:ln w="12700">
            <a:solidFill>
              <a:schemeClr val="accent5"/>
            </a:solidFill>
          </a:ln>
        </p:spPr>
        <p:txBody>
          <a:bodyPr wrap="square" lIns="0" tIns="0" rIns="0" bIns="0" rtlCol="0" anchor="ctr"/>
          <a:lstStyle/>
          <a:p>
            <a:pPr marL="0" indent="0" algn="ctr">
              <a:buNone/>
            </a:pPr>
            <a:r>
              <a:rPr lang="en-US" sz="1200" b="1" dirty="0">
                <a:solidFill>
                  <a:schemeClr val="tx1"/>
                </a:solidFill>
              </a:rPr>
              <a:t>30</a:t>
            </a:r>
            <a:endParaRPr lang="en-US" sz="1200" dirty="0"/>
          </a:p>
        </p:txBody>
      </p:sp>
      <p:sp>
        <p:nvSpPr>
          <p:cNvPr id="13" name="Text 11"/>
          <p:cNvSpPr txBox="1"/>
          <p:nvPr/>
        </p:nvSpPr>
        <p:spPr>
          <a:xfrm>
            <a:off x="1152144" y="2674620"/>
            <a:ext cx="438912" cy="274320"/>
          </a:xfrm>
          <a:prstGeom prst="roundRect">
            <a:avLst>
              <a:gd name="adj" fmla="val 26667"/>
            </a:avLst>
          </a:prstGeom>
          <a:solidFill>
            <a:schemeClr val="bg1"/>
          </a:solidFill>
          <a:ln w="12700">
            <a:solidFill>
              <a:schemeClr val="accent4"/>
            </a:solidFill>
          </a:ln>
        </p:spPr>
        <p:txBody>
          <a:bodyPr wrap="square" lIns="0" tIns="0" rIns="0" bIns="0" rtlCol="0" anchor="ctr"/>
          <a:lstStyle/>
          <a:p>
            <a:pPr marL="0" indent="0" algn="ctr">
              <a:buNone/>
            </a:pPr>
            <a:r>
              <a:rPr lang="en-US" sz="1200" b="1" dirty="0">
                <a:solidFill>
                  <a:schemeClr val="tx1"/>
                </a:solidFill>
              </a:rPr>
              <a:t>20</a:t>
            </a:r>
            <a:endParaRPr lang="en-US" sz="1200" dirty="0"/>
          </a:p>
        </p:txBody>
      </p:sp>
      <p:sp>
        <p:nvSpPr>
          <p:cNvPr id="14" name="Text 12"/>
          <p:cNvSpPr txBox="1"/>
          <p:nvPr/>
        </p:nvSpPr>
        <p:spPr>
          <a:xfrm>
            <a:off x="1766621" y="2221992"/>
            <a:ext cx="438912" cy="274320"/>
          </a:xfrm>
          <a:prstGeom prst="roundRect">
            <a:avLst>
              <a:gd name="adj" fmla="val 26667"/>
            </a:avLst>
          </a:prstGeom>
          <a:solidFill>
            <a:schemeClr val="accent2"/>
          </a:solidFill>
          <a:ln w="12700">
            <a:solidFill>
              <a:schemeClr val="accent5"/>
            </a:solidFill>
          </a:ln>
        </p:spPr>
        <p:txBody>
          <a:bodyPr wrap="square" lIns="0" tIns="0" rIns="0" bIns="0" rtlCol="0" anchor="ctr"/>
          <a:lstStyle/>
          <a:p>
            <a:pPr marL="0" indent="0" algn="ctr">
              <a:buNone/>
            </a:pPr>
            <a:r>
              <a:rPr lang="en-US" sz="1200" b="1" dirty="0">
                <a:solidFill>
                  <a:schemeClr val="tx1"/>
                </a:solidFill>
              </a:rPr>
              <a:t>15</a:t>
            </a:r>
            <a:endParaRPr lang="en-US" sz="1200" dirty="0"/>
          </a:p>
        </p:txBody>
      </p:sp>
      <p:sp>
        <p:nvSpPr>
          <p:cNvPr id="15" name="Text 13"/>
          <p:cNvSpPr txBox="1"/>
          <p:nvPr/>
        </p:nvSpPr>
        <p:spPr>
          <a:xfrm>
            <a:off x="2732227" y="2221992"/>
            <a:ext cx="438912" cy="274320"/>
          </a:xfrm>
          <a:prstGeom prst="roundRect">
            <a:avLst>
              <a:gd name="adj" fmla="val 26667"/>
            </a:avLst>
          </a:prstGeom>
          <a:solidFill>
            <a:schemeClr val="accent2"/>
          </a:solidFill>
          <a:ln w="12700">
            <a:solidFill>
              <a:schemeClr val="accent5"/>
            </a:solidFill>
          </a:ln>
        </p:spPr>
        <p:txBody>
          <a:bodyPr wrap="square" lIns="0" tIns="0" rIns="0" bIns="0" rtlCol="0" anchor="ctr"/>
          <a:lstStyle/>
          <a:p>
            <a:pPr marL="0" indent="0" algn="ctr">
              <a:buNone/>
            </a:pPr>
            <a:r>
              <a:rPr lang="en-US" sz="1200" b="1" dirty="0">
                <a:solidFill>
                  <a:schemeClr val="tx1"/>
                </a:solidFill>
              </a:rPr>
              <a:t>25</a:t>
            </a:r>
            <a:endParaRPr lang="en-US" sz="1200" dirty="0"/>
          </a:p>
        </p:txBody>
      </p:sp>
      <p:sp>
        <p:nvSpPr>
          <p:cNvPr id="16" name="Text 14"/>
          <p:cNvSpPr txBox="1"/>
          <p:nvPr/>
        </p:nvSpPr>
        <p:spPr>
          <a:xfrm>
            <a:off x="1097280" y="1508760"/>
            <a:ext cx="548640" cy="548640"/>
          </a:xfrm>
          <a:prstGeom prst="ellipse">
            <a:avLst/>
          </a:prstGeom>
          <a:solidFill>
            <a:schemeClr val="accent3"/>
          </a:solidFill>
          <a:ln w="22225">
            <a:solidFill>
              <a:schemeClr val="tx1"/>
            </a:solidFill>
          </a:ln>
        </p:spPr>
        <p:txBody>
          <a:bodyPr wrap="square" lIns="0" tIns="0" rIns="0" bIns="0" rtlCol="0" anchor="ctr"/>
          <a:lstStyle/>
          <a:p>
            <a:pPr marL="0" indent="0" algn="ctr">
              <a:buNone/>
            </a:pPr>
            <a:r>
              <a:rPr lang="en-US" sz="1600" b="1" dirty="0">
                <a:solidFill>
                  <a:schemeClr val="tx1"/>
                </a:solidFill>
              </a:rPr>
              <a:t>A</a:t>
            </a:r>
            <a:endParaRPr lang="en-US" sz="1600" dirty="0"/>
          </a:p>
        </p:txBody>
      </p:sp>
      <p:sp>
        <p:nvSpPr>
          <p:cNvPr id="17" name="Text 15"/>
          <p:cNvSpPr txBox="1"/>
          <p:nvPr/>
        </p:nvSpPr>
        <p:spPr>
          <a:xfrm>
            <a:off x="3291840" y="1508760"/>
            <a:ext cx="548640" cy="548640"/>
          </a:xfrm>
          <a:prstGeom prst="ellipse">
            <a:avLst/>
          </a:prstGeom>
          <a:solidFill>
            <a:schemeClr val="accent2"/>
          </a:solidFill>
          <a:ln w="22225">
            <a:solidFill>
              <a:schemeClr val="tx1"/>
            </a:solidFill>
          </a:ln>
        </p:spPr>
        <p:txBody>
          <a:bodyPr wrap="square" lIns="0" tIns="0" rIns="0" bIns="0" rtlCol="0" anchor="ctr"/>
          <a:lstStyle/>
          <a:p>
            <a:pPr marL="0" indent="0" algn="ctr">
              <a:buNone/>
            </a:pPr>
            <a:r>
              <a:rPr lang="en-US" sz="1600" b="1" dirty="0">
                <a:solidFill>
                  <a:schemeClr val="tx1"/>
                </a:solidFill>
              </a:rPr>
              <a:t>B</a:t>
            </a:r>
            <a:endParaRPr lang="en-US" sz="1600" dirty="0"/>
          </a:p>
        </p:txBody>
      </p:sp>
      <p:sp>
        <p:nvSpPr>
          <p:cNvPr id="18" name="Text 16"/>
          <p:cNvSpPr txBox="1"/>
          <p:nvPr/>
        </p:nvSpPr>
        <p:spPr>
          <a:xfrm>
            <a:off x="3291840" y="3566160"/>
            <a:ext cx="548640" cy="548640"/>
          </a:xfrm>
          <a:prstGeom prst="ellipse">
            <a:avLst/>
          </a:prstGeom>
          <a:solidFill>
            <a:schemeClr val="accent2"/>
          </a:solidFill>
          <a:ln w="22225">
            <a:solidFill>
              <a:schemeClr val="tx1"/>
            </a:solidFill>
          </a:ln>
        </p:spPr>
        <p:txBody>
          <a:bodyPr wrap="square" lIns="0" tIns="0" rIns="0" bIns="0" rtlCol="0" anchor="ctr"/>
          <a:lstStyle/>
          <a:p>
            <a:pPr marL="0" indent="0" algn="ctr">
              <a:buNone/>
            </a:pPr>
            <a:r>
              <a:rPr lang="en-US" sz="1600" b="1" dirty="0">
                <a:solidFill>
                  <a:schemeClr val="tx1"/>
                </a:solidFill>
              </a:rPr>
              <a:t>C</a:t>
            </a:r>
            <a:endParaRPr lang="en-US" sz="1600" dirty="0"/>
          </a:p>
        </p:txBody>
      </p:sp>
      <p:sp>
        <p:nvSpPr>
          <p:cNvPr id="19" name="Text 17"/>
          <p:cNvSpPr txBox="1"/>
          <p:nvPr/>
        </p:nvSpPr>
        <p:spPr>
          <a:xfrm>
            <a:off x="1097280" y="3566160"/>
            <a:ext cx="548640" cy="548640"/>
          </a:xfrm>
          <a:prstGeom prst="ellipse">
            <a:avLst/>
          </a:prstGeom>
          <a:solidFill>
            <a:schemeClr val="accent2"/>
          </a:solidFill>
          <a:ln w="22225">
            <a:solidFill>
              <a:schemeClr val="tx1"/>
            </a:solidFill>
          </a:ln>
        </p:spPr>
        <p:txBody>
          <a:bodyPr wrap="square" lIns="0" tIns="0" rIns="0" bIns="0" rtlCol="0" anchor="ctr"/>
          <a:lstStyle/>
          <a:p>
            <a:pPr marL="0" indent="0" algn="ctr">
              <a:buNone/>
            </a:pPr>
            <a:r>
              <a:rPr lang="en-US" sz="1600" b="1" dirty="0">
                <a:solidFill>
                  <a:schemeClr val="tx1"/>
                </a:solidFill>
              </a:rPr>
              <a:t>D</a:t>
            </a:r>
            <a:endParaRPr lang="en-US" sz="1600" dirty="0"/>
          </a:p>
        </p:txBody>
      </p:sp>
      <p:sp>
        <p:nvSpPr>
          <p:cNvPr id="20" name="Text 18"/>
          <p:cNvSpPr txBox="1"/>
          <p:nvPr/>
        </p:nvSpPr>
        <p:spPr>
          <a:xfrm>
            <a:off x="457200" y="4224528"/>
            <a:ext cx="4114800" cy="256032"/>
          </a:xfrm>
          <a:prstGeom prst="rect">
            <a:avLst/>
          </a:prstGeom>
          <a:noFill/>
          <a:ln/>
        </p:spPr>
        <p:txBody>
          <a:bodyPr wrap="square" lIns="0" tIns="0" rIns="0" bIns="0" rtlCol="0" anchor="t"/>
          <a:lstStyle/>
          <a:p>
            <a:pPr marL="0" indent="0" algn="ctr">
              <a:buNone/>
            </a:pPr>
            <a:r>
              <a:rPr lang="en-US" sz="1100" i="1" dirty="0">
                <a:solidFill>
                  <a:schemeClr val="tx2"/>
                </a:solidFill>
              </a:rPr>
              <a:t>Solid arrows: optimal tour   ·   Dashed: unused edges</a:t>
            </a:r>
            <a:endParaRPr lang="en-US" sz="1100" dirty="0"/>
          </a:p>
        </p:txBody>
      </p:sp>
      <p:sp>
        <p:nvSpPr>
          <p:cNvPr id="21" name="Text 19"/>
          <p:cNvSpPr txBox="1"/>
          <p:nvPr/>
        </p:nvSpPr>
        <p:spPr>
          <a:xfrm>
            <a:off x="4846320" y="1234440"/>
            <a:ext cx="3840480" cy="1325880"/>
          </a:xfrm>
          <a:prstGeom prst="roundRect">
            <a:avLst>
              <a:gd name="adj" fmla="val 6897"/>
            </a:avLst>
          </a:prstGeom>
          <a:solidFill>
            <a:schemeClr val="accent2"/>
          </a:solidFill>
          <a:ln w="12700">
            <a:solidFill>
              <a:schemeClr val="accent2"/>
            </a:solidFill>
          </a:ln>
        </p:spPr>
        <p:txBody>
          <a:bodyPr wrap="square" lIns="50800" tIns="50800" rIns="50800" bIns="50800" rtlCol="0" anchor="ctr"/>
          <a:lstStyle/>
          <a:p>
            <a:pPr marL="0" indent="0" algn="ctr">
              <a:buNone/>
            </a:pPr>
            <a:endParaRPr lang="en-US" sz="1200" dirty="0"/>
          </a:p>
        </p:txBody>
      </p:sp>
      <p:sp>
        <p:nvSpPr>
          <p:cNvPr id="22" name="Text 20"/>
          <p:cNvSpPr txBox="1"/>
          <p:nvPr/>
        </p:nvSpPr>
        <p:spPr>
          <a:xfrm>
            <a:off x="5029200" y="1325880"/>
            <a:ext cx="3474720" cy="228600"/>
          </a:xfrm>
          <a:prstGeom prst="rect">
            <a:avLst/>
          </a:prstGeom>
          <a:noFill/>
          <a:ln/>
        </p:spPr>
        <p:txBody>
          <a:bodyPr wrap="square" lIns="0" tIns="0" rIns="0" bIns="0" rtlCol="0" anchor="t"/>
          <a:lstStyle/>
          <a:p>
            <a:pPr marL="0" indent="0" algn="l">
              <a:buNone/>
            </a:pPr>
            <a:r>
              <a:rPr lang="en-US" sz="1200" b="1" dirty="0">
                <a:solidFill>
                  <a:schemeClr val="accent5"/>
                </a:solidFill>
              </a:rPr>
              <a:t>OPTIMAL TOUR</a:t>
            </a:r>
            <a:endParaRPr lang="en-US" sz="1200" dirty="0"/>
          </a:p>
        </p:txBody>
      </p:sp>
      <p:sp>
        <p:nvSpPr>
          <p:cNvPr id="23" name="Text 21"/>
          <p:cNvSpPr txBox="1"/>
          <p:nvPr/>
        </p:nvSpPr>
        <p:spPr>
          <a:xfrm>
            <a:off x="5029200" y="1600200"/>
            <a:ext cx="3474720" cy="457200"/>
          </a:xfrm>
          <a:prstGeom prst="rect">
            <a:avLst/>
          </a:prstGeom>
          <a:noFill/>
          <a:ln/>
        </p:spPr>
        <p:txBody>
          <a:bodyPr wrap="square" lIns="0" tIns="0" rIns="0" bIns="0" rtlCol="0" anchor="t"/>
          <a:lstStyle/>
          <a:p>
            <a:pPr marL="0" indent="0" algn="l">
              <a:buNone/>
            </a:pPr>
            <a:r>
              <a:rPr lang="en-US" sz="2400" b="1" dirty="0">
                <a:solidFill>
                  <a:schemeClr val="tx1"/>
                </a:solidFill>
                <a:latin typeface="Cambria" pitchFamily="34" charset="0"/>
                <a:ea typeface="Cambria" pitchFamily="34" charset="-122"/>
                <a:cs typeface="Cambria" pitchFamily="34" charset="-120"/>
              </a:rPr>
              <a:t>A → B → D → C → A</a:t>
            </a:r>
            <a:endParaRPr lang="en-US" sz="2400" dirty="0"/>
          </a:p>
        </p:txBody>
      </p:sp>
      <p:sp>
        <p:nvSpPr>
          <p:cNvPr id="24" name="Text 22"/>
          <p:cNvSpPr txBox="1"/>
          <p:nvPr/>
        </p:nvSpPr>
        <p:spPr>
          <a:xfrm>
            <a:off x="5029200" y="2103120"/>
            <a:ext cx="3474720" cy="320040"/>
          </a:xfrm>
          <a:prstGeom prst="rect">
            <a:avLst/>
          </a:prstGeom>
          <a:noFill/>
          <a:ln/>
        </p:spPr>
        <p:txBody>
          <a:bodyPr wrap="square" lIns="0" tIns="0" rIns="0" bIns="0" rtlCol="0" anchor="t"/>
          <a:lstStyle/>
          <a:p>
            <a:pPr marL="0" indent="0" algn="l">
              <a:buNone/>
            </a:pPr>
            <a:r>
              <a:rPr lang="en-US" sz="1600" dirty="0">
                <a:solidFill>
                  <a:schemeClr val="tx1"/>
                </a:solidFill>
              </a:rPr>
              <a:t>Cost = 10 + 25 + 30 + 15 = 80 km</a:t>
            </a:r>
            <a:endParaRPr lang="en-US" sz="1600" dirty="0"/>
          </a:p>
        </p:txBody>
      </p:sp>
      <p:graphicFrame>
        <p:nvGraphicFramePr>
          <p:cNvPr id="25" name="Chart 0"/>
          <p:cNvGraphicFramePr/>
          <p:nvPr/>
        </p:nvGraphicFramePr>
        <p:xfrm>
          <a:off x="4846320" y="2697480"/>
          <a:ext cx="3840480" cy="1874520"/>
        </p:xfrm>
        <a:graphic>
          <a:graphicData uri="http://schemas.openxmlformats.org/drawingml/2006/chart">
            <c:chart xmlns:c="http://schemas.openxmlformats.org/drawingml/2006/chart" xmlns:r="http://schemas.openxmlformats.org/officeDocument/2006/relationships" r:id="rId3"/>
          </a:graphicData>
        </a:graphic>
      </p:graphicFrame>
      <p:sp>
        <p:nvSpPr>
          <p:cNvPr id="26"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1"/>
                </a:solidFill>
              </a:rPr>
              <a:t>Algorithm and Complexity</a:t>
            </a:r>
            <a:endParaRPr lang="en-US" sz="3200" dirty="0"/>
          </a:p>
        </p:txBody>
      </p:sp>
      <p:sp>
        <p:nvSpPr>
          <p:cNvPr id="3" name="Text 1"/>
          <p:cNvSpPr txBox="1"/>
          <p:nvPr/>
        </p:nvSpPr>
        <p:spPr>
          <a:xfrm>
            <a:off x="457200" y="1234440"/>
            <a:ext cx="4297680" cy="3337560"/>
          </a:xfrm>
          <a:prstGeom prst="roundRect">
            <a:avLst>
              <a:gd name="adj" fmla="val 2192"/>
            </a:avLst>
          </a:prstGeom>
          <a:solidFill>
            <a:schemeClr val="accent3"/>
          </a:solidFill>
          <a:ln w="12700">
            <a:solidFill>
              <a:schemeClr val="accent3"/>
            </a:solidFill>
          </a:ln>
        </p:spPr>
        <p:txBody>
          <a:bodyPr wrap="square" lIns="50800" tIns="50800" rIns="50800" bIns="50800" rtlCol="0" anchor="ctr"/>
          <a:lstStyle/>
          <a:p>
            <a:pPr marL="0" indent="0" algn="ctr">
              <a:buNone/>
            </a:pPr>
            <a:endParaRPr lang="en-US" sz="1200" dirty="0"/>
          </a:p>
        </p:txBody>
      </p:sp>
      <p:sp>
        <p:nvSpPr>
          <p:cNvPr id="4" name="Text 2"/>
          <p:cNvSpPr txBox="1"/>
          <p:nvPr/>
        </p:nvSpPr>
        <p:spPr>
          <a:xfrm>
            <a:off x="594360" y="1325880"/>
            <a:ext cx="4069080" cy="3154680"/>
          </a:xfrm>
          <a:prstGeom prst="rect">
            <a:avLst/>
          </a:prstGeom>
          <a:noFill/>
          <a:ln/>
        </p:spPr>
        <p:txBody>
          <a:bodyPr wrap="square" lIns="50800" tIns="50800" rIns="50800" bIns="50800" rtlCol="0" anchor="ctr"/>
          <a:lstStyle/>
          <a:p>
            <a:pPr marL="0" indent="0">
              <a:spcAft>
                <a:spcPts val="200"/>
              </a:spcAft>
              <a:buNone/>
            </a:pPr>
            <a:r>
              <a:rPr lang="en-US" sz="1200" b="1" dirty="0">
                <a:solidFill>
                  <a:schemeClr val="tx1"/>
                </a:solidFill>
                <a:latin typeface="Courier New" pitchFamily="34" charset="0"/>
                <a:ea typeface="Courier New" pitchFamily="34" charset="-122"/>
                <a:cs typeface="Courier New" pitchFamily="34" charset="-120"/>
              </a:rPr>
              <a:t>TSP-BRUTE-FORCE(d, n)</a:t>
            </a:r>
            <a:endParaRPr lang="en-US" sz="1200" dirty="0"/>
          </a:p>
          <a:p>
            <a:pPr marL="0" indent="0">
              <a:spcAft>
                <a:spcPts val="200"/>
              </a:spcAft>
              <a:buNone/>
            </a:pPr>
            <a:r>
              <a:rPr lang="en-US" sz="1200" dirty="0">
                <a:solidFill>
                  <a:schemeClr val="tx1"/>
                </a:solidFill>
                <a:latin typeface="Courier New" pitchFamily="34" charset="0"/>
                <a:ea typeface="Courier New" pitchFamily="34" charset="-122"/>
                <a:cs typeface="Courier New" pitchFamily="34" charset="-120"/>
              </a:rPr>
              <a:t>  best ← ∞</a:t>
            </a:r>
            <a:endParaRPr lang="en-US" sz="1200" dirty="0"/>
          </a:p>
          <a:p>
            <a:pPr marL="0" indent="0">
              <a:spcAft>
                <a:spcPts val="200"/>
              </a:spcAft>
              <a:buNone/>
            </a:pPr>
            <a:r>
              <a:rPr lang="en-US" sz="1200" dirty="0">
                <a:solidFill>
                  <a:schemeClr val="tx1"/>
                </a:solidFill>
                <a:latin typeface="Courier New" pitchFamily="34" charset="0"/>
                <a:ea typeface="Courier New" pitchFamily="34" charset="-122"/>
                <a:cs typeface="Courier New" pitchFamily="34" charset="-120"/>
              </a:rPr>
              <a:t>  for each permutation p of {2..n}</a:t>
            </a:r>
            <a:endParaRPr lang="en-US" sz="1200" dirty="0"/>
          </a:p>
          <a:p>
            <a:pPr marL="0" indent="0">
              <a:spcAft>
                <a:spcPts val="200"/>
              </a:spcAft>
              <a:buNone/>
            </a:pPr>
            <a:r>
              <a:rPr lang="en-US" sz="1200" dirty="0">
                <a:solidFill>
                  <a:schemeClr val="tx1"/>
                </a:solidFill>
                <a:latin typeface="Courier New" pitchFamily="34" charset="0"/>
                <a:ea typeface="Courier New" pitchFamily="34" charset="-122"/>
                <a:cs typeface="Courier New" pitchFamily="34" charset="-120"/>
              </a:rPr>
              <a:t>    cost ← d[1][p[1]]</a:t>
            </a:r>
            <a:endParaRPr lang="en-US" sz="1200" dirty="0"/>
          </a:p>
          <a:p>
            <a:pPr marL="0" indent="0">
              <a:spcAft>
                <a:spcPts val="200"/>
              </a:spcAft>
              <a:buNone/>
            </a:pPr>
            <a:r>
              <a:rPr lang="en-US" sz="1200" dirty="0">
                <a:solidFill>
                  <a:schemeClr val="tx1"/>
                </a:solidFill>
                <a:latin typeface="Courier New" pitchFamily="34" charset="0"/>
                <a:ea typeface="Courier New" pitchFamily="34" charset="-122"/>
                <a:cs typeface="Courier New" pitchFamily="34" charset="-120"/>
              </a:rPr>
              <a:t>    for k ← 1 to n−2</a:t>
            </a:r>
            <a:endParaRPr lang="en-US" sz="1200" dirty="0"/>
          </a:p>
          <a:p>
            <a:pPr marL="0" indent="0">
              <a:spcAft>
                <a:spcPts val="200"/>
              </a:spcAft>
              <a:buNone/>
            </a:pPr>
            <a:r>
              <a:rPr lang="en-US" sz="1200" dirty="0">
                <a:solidFill>
                  <a:schemeClr val="tx1"/>
                </a:solidFill>
                <a:latin typeface="Courier New" pitchFamily="34" charset="0"/>
                <a:ea typeface="Courier New" pitchFamily="34" charset="-122"/>
                <a:cs typeface="Courier New" pitchFamily="34" charset="-120"/>
              </a:rPr>
              <a:t>      cost ← cost + d[p[k]][p[k+1]]</a:t>
            </a:r>
            <a:endParaRPr lang="en-US" sz="1200" dirty="0"/>
          </a:p>
          <a:p>
            <a:pPr marL="0" indent="0">
              <a:spcAft>
                <a:spcPts val="200"/>
              </a:spcAft>
              <a:buNone/>
            </a:pPr>
            <a:r>
              <a:rPr lang="en-US" sz="1200" dirty="0">
                <a:solidFill>
                  <a:schemeClr val="tx1"/>
                </a:solidFill>
                <a:latin typeface="Courier New" pitchFamily="34" charset="0"/>
                <a:ea typeface="Courier New" pitchFamily="34" charset="-122"/>
                <a:cs typeface="Courier New" pitchFamily="34" charset="-120"/>
              </a:rPr>
              <a:t>    cost ← cost + d[p[n−1]][1]</a:t>
            </a:r>
            <a:endParaRPr lang="en-US" sz="1200" dirty="0"/>
          </a:p>
          <a:p>
            <a:pPr marL="0" indent="0">
              <a:spcAft>
                <a:spcPts val="200"/>
              </a:spcAft>
              <a:buNone/>
            </a:pPr>
            <a:r>
              <a:rPr lang="en-US" sz="1200" dirty="0">
                <a:solidFill>
                  <a:schemeClr val="tx1"/>
                </a:solidFill>
                <a:latin typeface="Courier New" pitchFamily="34" charset="0"/>
                <a:ea typeface="Courier New" pitchFamily="34" charset="-122"/>
                <a:cs typeface="Courier New" pitchFamily="34" charset="-120"/>
              </a:rPr>
              <a:t>    if cost &lt; best</a:t>
            </a:r>
            <a:endParaRPr lang="en-US" sz="1200" dirty="0"/>
          </a:p>
          <a:p>
            <a:pPr marL="0" indent="0">
              <a:spcAft>
                <a:spcPts val="200"/>
              </a:spcAft>
              <a:buNone/>
            </a:pPr>
            <a:r>
              <a:rPr lang="en-US" sz="1200" dirty="0">
                <a:solidFill>
                  <a:schemeClr val="tx1"/>
                </a:solidFill>
                <a:latin typeface="Courier New" pitchFamily="34" charset="0"/>
                <a:ea typeface="Courier New" pitchFamily="34" charset="-122"/>
                <a:cs typeface="Courier New" pitchFamily="34" charset="-120"/>
              </a:rPr>
              <a:t>      best ← cost;  tour ← (1, p, 1)</a:t>
            </a:r>
            <a:endParaRPr lang="en-US" sz="1200" dirty="0"/>
          </a:p>
          <a:p>
            <a:pPr marL="0" indent="0">
              <a:spcAft>
                <a:spcPts val="200"/>
              </a:spcAft>
              <a:buNone/>
            </a:pPr>
            <a:r>
              <a:rPr lang="en-US" sz="1200" dirty="0">
                <a:solidFill>
                  <a:schemeClr val="tx1"/>
                </a:solidFill>
                <a:latin typeface="Courier New" pitchFamily="34" charset="0"/>
                <a:ea typeface="Courier New" pitchFamily="34" charset="-122"/>
                <a:cs typeface="Courier New" pitchFamily="34" charset="-120"/>
              </a:rPr>
              <a:t>  return best, tour</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0" y="1280160"/>
          <a:ext cx="3657600" cy="914400"/>
        </p:xfrm>
        <a:graphic>
          <a:graphicData uri="http://schemas.openxmlformats.org/drawingml/2006/table">
            <a:tbl>
              <a:tblPr/>
              <a:tblGrid>
                <a:gridCol w="15544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365760">
                <a:tc>
                  <a:txBody>
                    <a:bodyPr/>
                    <a:lstStyle/>
                    <a:p>
                      <a:pPr marL="0" indent="0" algn="ctr">
                        <a:buNone/>
                      </a:pPr>
                      <a:r>
                        <a:rPr lang="en-US" sz="1200" b="1" dirty="0">
                          <a:solidFill>
                            <a:schemeClr val="tx1"/>
                          </a:solidFill>
                        </a:rPr>
                        <a:t>Approach</a:t>
                      </a:r>
                      <a:endParaRPr lang="en-US" sz="12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1"/>
                    </a:solidFill>
                  </a:tcPr>
                </a:tc>
                <a:tc>
                  <a:txBody>
                    <a:bodyPr/>
                    <a:lstStyle/>
                    <a:p>
                      <a:pPr marL="0" indent="0" algn="ctr">
                        <a:buNone/>
                      </a:pPr>
                      <a:r>
                        <a:rPr lang="en-US" sz="1200" b="1" dirty="0">
                          <a:solidFill>
                            <a:schemeClr val="tx1"/>
                          </a:solidFill>
                        </a:rPr>
                        <a:t>Time</a:t>
                      </a:r>
                      <a:endParaRPr lang="en-US" sz="12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1"/>
                    </a:solidFill>
                  </a:tcPr>
                </a:tc>
                <a:tc>
                  <a:txBody>
                    <a:bodyPr/>
                    <a:lstStyle/>
                    <a:p>
                      <a:pPr marL="0" indent="0" algn="ctr">
                        <a:buNone/>
                      </a:pPr>
                      <a:r>
                        <a:rPr lang="en-US" sz="1200" b="1" dirty="0">
                          <a:solidFill>
                            <a:schemeClr val="tx1"/>
                          </a:solidFill>
                        </a:rPr>
                        <a:t>Space</a:t>
                      </a:r>
                      <a:endParaRPr lang="en-US" sz="12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365760">
                <a:tc>
                  <a:txBody>
                    <a:bodyPr/>
                    <a:lstStyle/>
                    <a:p>
                      <a:pPr marL="0" indent="0" algn="ctr">
                        <a:buNone/>
                      </a:pPr>
                      <a:r>
                        <a:rPr lang="en-US" sz="1200" dirty="0">
                          <a:solidFill>
                            <a:schemeClr val="tx1"/>
                          </a:solidFill>
                        </a:rPr>
                        <a:t>Brute force</a:t>
                      </a:r>
                      <a:endParaRPr lang="en-US" sz="12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O(n!)</a:t>
                      </a:r>
                      <a:endParaRPr lang="en-US" sz="12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O(n)</a:t>
                      </a:r>
                      <a:endParaRPr lang="en-US" sz="12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760">
                <a:tc>
                  <a:txBody>
                    <a:bodyPr/>
                    <a:lstStyle/>
                    <a:p>
                      <a:pPr marL="0" indent="0" algn="ctr">
                        <a:buNone/>
                      </a:pPr>
                      <a:r>
                        <a:rPr lang="en-US" sz="1200" dirty="0">
                          <a:solidFill>
                            <a:schemeClr val="tx1"/>
                          </a:solidFill>
                        </a:rPr>
                        <a:t>Held–Karp (DP)</a:t>
                      </a:r>
                      <a:endParaRPr lang="en-US" sz="12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O(n²·2^n)</a:t>
                      </a:r>
                      <a:endParaRPr lang="en-US" sz="12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O(n·2^n)</a:t>
                      </a:r>
                      <a:endParaRPr lang="en-US" sz="12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65760">
                <a:tc>
                  <a:txBody>
                    <a:bodyPr/>
                    <a:lstStyle/>
                    <a:p>
                      <a:pPr marL="0" indent="0" algn="ctr">
                        <a:buNone/>
                      </a:pPr>
                      <a:r>
                        <a:rPr lang="en-US" sz="1200" dirty="0">
                          <a:solidFill>
                            <a:schemeClr val="tx1"/>
                          </a:solidFill>
                        </a:rPr>
                        <a:t>Nearest neighbour*</a:t>
                      </a:r>
                      <a:endParaRPr lang="en-US" sz="12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O(n²)</a:t>
                      </a:r>
                      <a:endParaRPr lang="en-US" sz="12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O(n)</a:t>
                      </a:r>
                      <a:endParaRPr lang="en-US" sz="1200" dirty="0"/>
                    </a:p>
                  </a:txBody>
                  <a:tcPr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6" name="Text 3"/>
          <p:cNvSpPr txBox="1"/>
          <p:nvPr/>
        </p:nvSpPr>
        <p:spPr>
          <a:xfrm>
            <a:off x="5029200" y="2788920"/>
            <a:ext cx="3657600" cy="228600"/>
          </a:xfrm>
          <a:prstGeom prst="rect">
            <a:avLst/>
          </a:prstGeom>
          <a:noFill/>
          <a:ln/>
        </p:spPr>
        <p:txBody>
          <a:bodyPr wrap="square" lIns="0" tIns="0" rIns="0" bIns="0" rtlCol="0" anchor="t"/>
          <a:lstStyle/>
          <a:p>
            <a:pPr marL="0" indent="0" algn="l">
              <a:buNone/>
            </a:pPr>
            <a:r>
              <a:rPr lang="en-US" sz="1100" i="1" dirty="0">
                <a:solidFill>
                  <a:schemeClr val="tx2"/>
                </a:solidFill>
              </a:rPr>
              <a:t>* heuristic: fast, but not always optimal</a:t>
            </a:r>
            <a:endParaRPr lang="en-US" sz="1100" dirty="0"/>
          </a:p>
        </p:txBody>
      </p:sp>
      <p:sp>
        <p:nvSpPr>
          <p:cNvPr id="7" name="Text 4"/>
          <p:cNvSpPr txBox="1"/>
          <p:nvPr/>
        </p:nvSpPr>
        <p:spPr>
          <a:xfrm>
            <a:off x="5029200" y="3108960"/>
            <a:ext cx="3657600" cy="1463040"/>
          </a:xfrm>
          <a:prstGeom prst="roundRect">
            <a:avLst>
              <a:gd name="adj" fmla="val 6250"/>
            </a:avLst>
          </a:prstGeom>
          <a:solidFill>
            <a:schemeClr val="accent2"/>
          </a:solidFill>
          <a:ln w="12700">
            <a:solidFill>
              <a:schemeClr val="accent2"/>
            </a:solidFill>
          </a:ln>
        </p:spPr>
        <p:txBody>
          <a:bodyPr wrap="square" lIns="50800" tIns="50800" rIns="50800" bIns="50800" rtlCol="0" anchor="ctr"/>
          <a:lstStyle/>
          <a:p>
            <a:pPr marL="0" indent="0" algn="ctr">
              <a:buNone/>
            </a:pPr>
            <a:endParaRPr lang="en-US" sz="1200" dirty="0"/>
          </a:p>
        </p:txBody>
      </p:sp>
      <p:sp>
        <p:nvSpPr>
          <p:cNvPr id="8" name="Text 5"/>
          <p:cNvSpPr txBox="1"/>
          <p:nvPr/>
        </p:nvSpPr>
        <p:spPr>
          <a:xfrm>
            <a:off x="5212080" y="3200400"/>
            <a:ext cx="3291840" cy="228600"/>
          </a:xfrm>
          <a:prstGeom prst="rect">
            <a:avLst/>
          </a:prstGeom>
          <a:noFill/>
          <a:ln/>
        </p:spPr>
        <p:txBody>
          <a:bodyPr wrap="square" lIns="0" tIns="0" rIns="0" bIns="0" rtlCol="0" anchor="t"/>
          <a:lstStyle/>
          <a:p>
            <a:pPr marL="0" indent="0" algn="l">
              <a:buNone/>
            </a:pPr>
            <a:r>
              <a:rPr lang="en-US" sz="1200" b="1" dirty="0">
                <a:solidFill>
                  <a:schemeClr val="accent5"/>
                </a:solidFill>
              </a:rPr>
              <a:t>Held–Karp recurrence</a:t>
            </a:r>
            <a:endParaRPr lang="en-US" sz="1200" dirty="0"/>
          </a:p>
        </p:txBody>
      </p:sp>
      <p:sp>
        <p:nvSpPr>
          <p:cNvPr id="5" name="Text 6"/>
          <p:cNvSpPr txBox="1"/>
          <p:nvPr/>
        </p:nvSpPr>
        <p:spPr>
          <a:xfrm>
            <a:off x="5212080" y="3474720"/>
            <a:ext cx="3291840" cy="320040"/>
          </a:xfrm>
          <a:prstGeom prst="rect">
            <a:avLst/>
          </a:prstGeom>
          <a:noFill/>
          <a:ln/>
        </p:spPr>
        <p:txBody>
          <a:bodyPr wrap="square" lIns="0" tIns="0" rIns="0" bIns="0" rtlCol="0" anchor="t"/>
          <a:lstStyle/>
          <a:p>
            <a:pPr marL="0" indent="0" algn="l">
              <a:buNone/>
            </a:pPr>
            <a:r>
              <a:rPr lang="en-US" sz="1400" dirty="0">
                <a:solidFill>
                  <a:schemeClr val="tx1"/>
                </a:solidFill>
                <a:latin typeface="Cambria" pitchFamily="34" charset="0"/>
                <a:ea typeface="Cambria" pitchFamily="34" charset="-122"/>
                <a:cs typeface="Cambria" pitchFamily="34" charset="-120"/>
              </a:rPr>
              <a:t>C(S, j) = min  [ C(S∖{j}, i) + d(i, j) ]</a:t>
            </a:r>
            <a:endParaRPr lang="en-US" sz="1400" dirty="0"/>
          </a:p>
        </p:txBody>
      </p:sp>
      <p:sp>
        <p:nvSpPr>
          <p:cNvPr id="10" name="Text 7"/>
          <p:cNvSpPr txBox="1"/>
          <p:nvPr/>
        </p:nvSpPr>
        <p:spPr>
          <a:xfrm>
            <a:off x="5212080" y="3840480"/>
            <a:ext cx="3291840" cy="640080"/>
          </a:xfrm>
          <a:prstGeom prst="rect">
            <a:avLst/>
          </a:prstGeom>
          <a:noFill/>
          <a:ln/>
        </p:spPr>
        <p:txBody>
          <a:bodyPr wrap="square" lIns="0" tIns="0" rIns="0" bIns="0" rtlCol="0" anchor="t"/>
          <a:lstStyle/>
          <a:p>
            <a:pPr marL="0" indent="0" algn="l">
              <a:buNone/>
            </a:pPr>
            <a:r>
              <a:rPr lang="en-US" sz="1300" dirty="0">
                <a:solidFill>
                  <a:schemeClr val="tx1"/>
                </a:solidFill>
              </a:rPr>
              <a:t>over all i ∈ S, i ≠ j.   2^n subsets × n end-cities × n transitions gives O(n²·2^n).</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lstStyle/>
          <a:p>
            <a:pPr marL="0" indent="0" algn="l">
              <a:buNone/>
            </a:pPr>
            <a:r>
              <a:rPr lang="en-US" sz="3200" b="1" dirty="0">
                <a:solidFill>
                  <a:schemeClr val="tx1"/>
                </a:solidFill>
              </a:rPr>
              <a:t>Real-World Applications and Conclusion</a:t>
            </a:r>
            <a:endParaRPr lang="en-US" sz="3200" dirty="0"/>
          </a:p>
        </p:txBody>
      </p:sp>
      <p:sp>
        <p:nvSpPr>
          <p:cNvPr id="3" name="Text 1"/>
          <p:cNvSpPr txBox="1"/>
          <p:nvPr/>
        </p:nvSpPr>
        <p:spPr>
          <a:xfrm>
            <a:off x="457200" y="1280160"/>
            <a:ext cx="2240280" cy="1005840"/>
          </a:xfrm>
          <a:prstGeom prst="roundRect">
            <a:avLst>
              <a:gd name="adj" fmla="val 9091"/>
            </a:avLst>
          </a:prstGeom>
          <a:solidFill>
            <a:schemeClr val="accent1"/>
          </a:solidFill>
          <a:ln w="12700">
            <a:solidFill>
              <a:schemeClr val="accent1"/>
            </a:solidFill>
          </a:ln>
        </p:spPr>
        <p:txBody>
          <a:bodyPr wrap="square" lIns="50800" tIns="50800" rIns="50800" bIns="50800" rtlCol="0" anchor="ctr"/>
          <a:lstStyle/>
          <a:p>
            <a:pPr marL="0" indent="0" algn="ctr">
              <a:buNone/>
            </a:pPr>
            <a:endParaRPr lang="en-US" sz="1200" dirty="0"/>
          </a:p>
        </p:txBody>
      </p:sp>
      <p:sp>
        <p:nvSpPr>
          <p:cNvPr id="4" name="Text 2"/>
          <p:cNvSpPr txBox="1"/>
          <p:nvPr/>
        </p:nvSpPr>
        <p:spPr>
          <a:xfrm>
            <a:off x="594360" y="1417320"/>
            <a:ext cx="1965960" cy="274320"/>
          </a:xfrm>
          <a:prstGeom prst="rect">
            <a:avLst/>
          </a:prstGeom>
          <a:noFill/>
          <a:ln/>
        </p:spPr>
        <p:txBody>
          <a:bodyPr wrap="square" lIns="0" tIns="0" rIns="0" bIns="0" rtlCol="0" anchor="t"/>
          <a:lstStyle/>
          <a:p>
            <a:pPr marL="0" indent="0" algn="l">
              <a:buNone/>
            </a:pPr>
            <a:r>
              <a:rPr lang="en-US" sz="1400" b="1" dirty="0">
                <a:solidFill>
                  <a:schemeClr val="tx1"/>
                </a:solidFill>
              </a:rPr>
              <a:t>Delivery routing</a:t>
            </a:r>
            <a:endParaRPr lang="en-US" sz="1400" dirty="0"/>
          </a:p>
        </p:txBody>
      </p:sp>
      <p:sp>
        <p:nvSpPr>
          <p:cNvPr id="5" name="Text 3"/>
          <p:cNvSpPr txBox="1"/>
          <p:nvPr/>
        </p:nvSpPr>
        <p:spPr>
          <a:xfrm>
            <a:off x="594360" y="1755648"/>
            <a:ext cx="1965960" cy="457200"/>
          </a:xfrm>
          <a:prstGeom prst="rect">
            <a:avLst/>
          </a:prstGeom>
          <a:noFill/>
          <a:ln/>
        </p:spPr>
        <p:txBody>
          <a:bodyPr wrap="square" lIns="0" tIns="0" rIns="0" bIns="0" rtlCol="0" anchor="t"/>
          <a:lstStyle/>
          <a:p>
            <a:pPr marL="0" indent="0" algn="l">
              <a:buNone/>
            </a:pPr>
            <a:r>
              <a:rPr lang="en-US" sz="1300" dirty="0">
                <a:solidFill>
                  <a:schemeClr val="tx1"/>
                </a:solidFill>
              </a:rPr>
              <a:t>Couriers and logistics fleets</a:t>
            </a:r>
            <a:endParaRPr lang="en-US" sz="1300" dirty="0"/>
          </a:p>
        </p:txBody>
      </p:sp>
      <p:sp>
        <p:nvSpPr>
          <p:cNvPr id="6" name="Text 4"/>
          <p:cNvSpPr txBox="1"/>
          <p:nvPr/>
        </p:nvSpPr>
        <p:spPr>
          <a:xfrm>
            <a:off x="2880360" y="1280160"/>
            <a:ext cx="2240280" cy="1005840"/>
          </a:xfrm>
          <a:prstGeom prst="roundRect">
            <a:avLst>
              <a:gd name="adj" fmla="val 9091"/>
            </a:avLst>
          </a:prstGeom>
          <a:solidFill>
            <a:schemeClr val="accent2"/>
          </a:solidFill>
          <a:ln w="12700">
            <a:solidFill>
              <a:schemeClr val="accent2"/>
            </a:solidFill>
          </a:ln>
        </p:spPr>
        <p:txBody>
          <a:bodyPr wrap="square" lIns="50800" tIns="50800" rIns="50800" bIns="50800" rtlCol="0" anchor="ctr"/>
          <a:lstStyle/>
          <a:p>
            <a:pPr marL="0" indent="0" algn="ctr">
              <a:buNone/>
            </a:pPr>
            <a:endParaRPr lang="en-US" sz="1200" dirty="0"/>
          </a:p>
        </p:txBody>
      </p:sp>
      <p:sp>
        <p:nvSpPr>
          <p:cNvPr id="7" name="Text 5"/>
          <p:cNvSpPr txBox="1"/>
          <p:nvPr/>
        </p:nvSpPr>
        <p:spPr>
          <a:xfrm>
            <a:off x="3017520" y="1417320"/>
            <a:ext cx="1965960" cy="274320"/>
          </a:xfrm>
          <a:prstGeom prst="rect">
            <a:avLst/>
          </a:prstGeom>
          <a:noFill/>
          <a:ln/>
        </p:spPr>
        <p:txBody>
          <a:bodyPr wrap="square" lIns="0" tIns="0" rIns="0" bIns="0" rtlCol="0" anchor="t"/>
          <a:lstStyle/>
          <a:p>
            <a:pPr marL="0" indent="0" algn="l">
              <a:buNone/>
            </a:pPr>
            <a:r>
              <a:rPr lang="en-US" sz="1400" b="1" dirty="0">
                <a:solidFill>
                  <a:schemeClr val="tx1"/>
                </a:solidFill>
              </a:rPr>
              <a:t>Circuit board drilling</a:t>
            </a:r>
            <a:endParaRPr lang="en-US" sz="1400" dirty="0"/>
          </a:p>
        </p:txBody>
      </p:sp>
      <p:sp>
        <p:nvSpPr>
          <p:cNvPr id="8" name="Text 6"/>
          <p:cNvSpPr txBox="1"/>
          <p:nvPr/>
        </p:nvSpPr>
        <p:spPr>
          <a:xfrm>
            <a:off x="3017520" y="1755648"/>
            <a:ext cx="1965960" cy="457200"/>
          </a:xfrm>
          <a:prstGeom prst="rect">
            <a:avLst/>
          </a:prstGeom>
          <a:noFill/>
          <a:ln/>
        </p:spPr>
        <p:txBody>
          <a:bodyPr wrap="square" lIns="0" tIns="0" rIns="0" bIns="0" rtlCol="0" anchor="t"/>
          <a:lstStyle/>
          <a:p>
            <a:pPr marL="0" indent="0" algn="l">
              <a:buNone/>
            </a:pPr>
            <a:r>
              <a:rPr lang="en-US" sz="1300" dirty="0">
                <a:solidFill>
                  <a:schemeClr val="tx1"/>
                </a:solidFill>
              </a:rPr>
              <a:t>Shortest drill-head path</a:t>
            </a:r>
            <a:endParaRPr lang="en-US" sz="1300" dirty="0"/>
          </a:p>
        </p:txBody>
      </p:sp>
      <p:sp>
        <p:nvSpPr>
          <p:cNvPr id="9" name="Text 7"/>
          <p:cNvSpPr txBox="1"/>
          <p:nvPr/>
        </p:nvSpPr>
        <p:spPr>
          <a:xfrm>
            <a:off x="457200" y="2423160"/>
            <a:ext cx="2240280" cy="1005840"/>
          </a:xfrm>
          <a:prstGeom prst="roundRect">
            <a:avLst>
              <a:gd name="adj" fmla="val 9091"/>
            </a:avLst>
          </a:prstGeom>
          <a:solidFill>
            <a:schemeClr val="accent3"/>
          </a:solidFill>
          <a:ln w="12700">
            <a:solidFill>
              <a:schemeClr val="accent3"/>
            </a:solidFill>
          </a:ln>
        </p:spPr>
        <p:txBody>
          <a:bodyPr wrap="square" lIns="50800" tIns="50800" rIns="50800" bIns="50800" rtlCol="0" anchor="ctr"/>
          <a:lstStyle/>
          <a:p>
            <a:pPr marL="0" indent="0" algn="ctr">
              <a:buNone/>
            </a:pPr>
            <a:endParaRPr lang="en-US" sz="1200" dirty="0"/>
          </a:p>
        </p:txBody>
      </p:sp>
      <p:sp>
        <p:nvSpPr>
          <p:cNvPr id="10" name="Text 8"/>
          <p:cNvSpPr txBox="1"/>
          <p:nvPr/>
        </p:nvSpPr>
        <p:spPr>
          <a:xfrm>
            <a:off x="594360" y="2560320"/>
            <a:ext cx="1965960" cy="274320"/>
          </a:xfrm>
          <a:prstGeom prst="rect">
            <a:avLst/>
          </a:prstGeom>
          <a:noFill/>
          <a:ln/>
        </p:spPr>
        <p:txBody>
          <a:bodyPr wrap="square" lIns="0" tIns="0" rIns="0" bIns="0" rtlCol="0" anchor="t"/>
          <a:lstStyle/>
          <a:p>
            <a:pPr marL="0" indent="0" algn="l">
              <a:buNone/>
            </a:pPr>
            <a:r>
              <a:rPr lang="en-US" sz="1400" b="1" dirty="0">
                <a:solidFill>
                  <a:schemeClr val="tx1"/>
                </a:solidFill>
              </a:rPr>
              <a:t>DNA sequencing</a:t>
            </a:r>
            <a:endParaRPr lang="en-US" sz="1400" dirty="0"/>
          </a:p>
        </p:txBody>
      </p:sp>
      <p:sp>
        <p:nvSpPr>
          <p:cNvPr id="11" name="Text 9"/>
          <p:cNvSpPr txBox="1"/>
          <p:nvPr/>
        </p:nvSpPr>
        <p:spPr>
          <a:xfrm>
            <a:off x="594360" y="2898648"/>
            <a:ext cx="1965960" cy="457200"/>
          </a:xfrm>
          <a:prstGeom prst="rect">
            <a:avLst/>
          </a:prstGeom>
          <a:noFill/>
          <a:ln/>
        </p:spPr>
        <p:txBody>
          <a:bodyPr wrap="square" lIns="0" tIns="0" rIns="0" bIns="0" rtlCol="0" anchor="t"/>
          <a:lstStyle/>
          <a:p>
            <a:pPr marL="0" indent="0" algn="l">
              <a:buNone/>
            </a:pPr>
            <a:r>
              <a:rPr lang="en-US" sz="1300" dirty="0">
                <a:solidFill>
                  <a:schemeClr val="tx1"/>
                </a:solidFill>
              </a:rPr>
              <a:t>Ordering sequence fragments</a:t>
            </a:r>
            <a:endParaRPr lang="en-US" sz="1300" dirty="0"/>
          </a:p>
        </p:txBody>
      </p:sp>
      <p:sp>
        <p:nvSpPr>
          <p:cNvPr id="12" name="Text 10"/>
          <p:cNvSpPr txBox="1"/>
          <p:nvPr/>
        </p:nvSpPr>
        <p:spPr>
          <a:xfrm>
            <a:off x="2880360" y="2423160"/>
            <a:ext cx="2240280" cy="1005840"/>
          </a:xfrm>
          <a:prstGeom prst="roundRect">
            <a:avLst>
              <a:gd name="adj" fmla="val 9091"/>
            </a:avLst>
          </a:prstGeom>
          <a:solidFill>
            <a:schemeClr val="accent2"/>
          </a:solidFill>
          <a:ln w="12700">
            <a:solidFill>
              <a:schemeClr val="accent2"/>
            </a:solidFill>
          </a:ln>
        </p:spPr>
        <p:txBody>
          <a:bodyPr wrap="square" lIns="50800" tIns="50800" rIns="50800" bIns="50800" rtlCol="0" anchor="ctr"/>
          <a:lstStyle/>
          <a:p>
            <a:pPr marL="0" indent="0" algn="ctr">
              <a:buNone/>
            </a:pPr>
            <a:endParaRPr lang="en-US" sz="1200" dirty="0"/>
          </a:p>
        </p:txBody>
      </p:sp>
      <p:sp>
        <p:nvSpPr>
          <p:cNvPr id="13" name="Text 11"/>
          <p:cNvSpPr txBox="1"/>
          <p:nvPr/>
        </p:nvSpPr>
        <p:spPr>
          <a:xfrm>
            <a:off x="3017520" y="2560320"/>
            <a:ext cx="1965960" cy="274320"/>
          </a:xfrm>
          <a:prstGeom prst="rect">
            <a:avLst/>
          </a:prstGeom>
          <a:noFill/>
          <a:ln/>
        </p:spPr>
        <p:txBody>
          <a:bodyPr wrap="square" lIns="0" tIns="0" rIns="0" bIns="0" rtlCol="0" anchor="t"/>
          <a:lstStyle/>
          <a:p>
            <a:pPr marL="0" indent="0" algn="l">
              <a:buNone/>
            </a:pPr>
            <a:r>
              <a:rPr lang="en-US" sz="1400" b="1" dirty="0">
                <a:solidFill>
                  <a:schemeClr val="tx1"/>
                </a:solidFill>
              </a:rPr>
              <a:t>Warehouse picking</a:t>
            </a:r>
            <a:endParaRPr lang="en-US" sz="1400" dirty="0"/>
          </a:p>
        </p:txBody>
      </p:sp>
      <p:sp>
        <p:nvSpPr>
          <p:cNvPr id="14" name="Text 12"/>
          <p:cNvSpPr txBox="1"/>
          <p:nvPr/>
        </p:nvSpPr>
        <p:spPr>
          <a:xfrm>
            <a:off x="3017520" y="2898648"/>
            <a:ext cx="1965960" cy="457200"/>
          </a:xfrm>
          <a:prstGeom prst="rect">
            <a:avLst/>
          </a:prstGeom>
          <a:noFill/>
          <a:ln/>
        </p:spPr>
        <p:txBody>
          <a:bodyPr wrap="square" lIns="0" tIns="0" rIns="0" bIns="0" rtlCol="0" anchor="t"/>
          <a:lstStyle/>
          <a:p>
            <a:pPr marL="0" indent="0" algn="l">
              <a:buNone/>
            </a:pPr>
            <a:r>
              <a:rPr lang="en-US" sz="1300" dirty="0">
                <a:solidFill>
                  <a:schemeClr val="tx1"/>
                </a:solidFill>
              </a:rPr>
              <a:t>Order-picker travel path</a:t>
            </a:r>
            <a:endParaRPr lang="en-US" sz="1300" dirty="0"/>
          </a:p>
        </p:txBody>
      </p:sp>
      <p:sp>
        <p:nvSpPr>
          <p:cNvPr id="15" name="Text 13"/>
          <p:cNvSpPr txBox="1"/>
          <p:nvPr/>
        </p:nvSpPr>
        <p:spPr>
          <a:xfrm>
            <a:off x="457200" y="3566160"/>
            <a:ext cx="2240280" cy="1005840"/>
          </a:xfrm>
          <a:prstGeom prst="roundRect">
            <a:avLst>
              <a:gd name="adj" fmla="val 9091"/>
            </a:avLst>
          </a:prstGeom>
          <a:solidFill>
            <a:schemeClr val="accent3"/>
          </a:solidFill>
          <a:ln w="12700">
            <a:solidFill>
              <a:schemeClr val="accent3"/>
            </a:solidFill>
          </a:ln>
        </p:spPr>
        <p:txBody>
          <a:bodyPr wrap="square" lIns="50800" tIns="50800" rIns="50800" bIns="50800" rtlCol="0" anchor="ctr"/>
          <a:lstStyle/>
          <a:p>
            <a:pPr marL="0" indent="0" algn="ctr">
              <a:buNone/>
            </a:pPr>
            <a:endParaRPr lang="en-US" sz="1200" dirty="0"/>
          </a:p>
        </p:txBody>
      </p:sp>
      <p:sp>
        <p:nvSpPr>
          <p:cNvPr id="16" name="Text 14"/>
          <p:cNvSpPr txBox="1"/>
          <p:nvPr/>
        </p:nvSpPr>
        <p:spPr>
          <a:xfrm>
            <a:off x="594360" y="3703320"/>
            <a:ext cx="1965960" cy="274320"/>
          </a:xfrm>
          <a:prstGeom prst="rect">
            <a:avLst/>
          </a:prstGeom>
          <a:noFill/>
          <a:ln/>
        </p:spPr>
        <p:txBody>
          <a:bodyPr wrap="square" lIns="0" tIns="0" rIns="0" bIns="0" rtlCol="0" anchor="t"/>
          <a:lstStyle/>
          <a:p>
            <a:pPr marL="0" indent="0" algn="l">
              <a:buNone/>
            </a:pPr>
            <a:r>
              <a:rPr lang="en-US" sz="1400" b="1" dirty="0">
                <a:solidFill>
                  <a:schemeClr val="tx1"/>
                </a:solidFill>
              </a:rPr>
              <a:t>Telescope scheduling</a:t>
            </a:r>
            <a:endParaRPr lang="en-US" sz="1400" dirty="0"/>
          </a:p>
        </p:txBody>
      </p:sp>
      <p:sp>
        <p:nvSpPr>
          <p:cNvPr id="17" name="Text 15"/>
          <p:cNvSpPr txBox="1"/>
          <p:nvPr/>
        </p:nvSpPr>
        <p:spPr>
          <a:xfrm>
            <a:off x="594360" y="4041648"/>
            <a:ext cx="1965960" cy="457200"/>
          </a:xfrm>
          <a:prstGeom prst="rect">
            <a:avLst/>
          </a:prstGeom>
          <a:noFill/>
          <a:ln/>
        </p:spPr>
        <p:txBody>
          <a:bodyPr wrap="square" lIns="0" tIns="0" rIns="0" bIns="0" rtlCol="0" anchor="t"/>
          <a:lstStyle/>
          <a:p>
            <a:pPr marL="0" indent="0" algn="l">
              <a:buNone/>
            </a:pPr>
            <a:r>
              <a:rPr lang="en-US" sz="1300" dirty="0">
                <a:solidFill>
                  <a:schemeClr val="tx1"/>
                </a:solidFill>
              </a:rPr>
              <a:t>Pointing order of targets</a:t>
            </a:r>
            <a:endParaRPr lang="en-US" sz="1300" dirty="0"/>
          </a:p>
        </p:txBody>
      </p:sp>
      <p:sp>
        <p:nvSpPr>
          <p:cNvPr id="18" name="Text 16"/>
          <p:cNvSpPr txBox="1"/>
          <p:nvPr/>
        </p:nvSpPr>
        <p:spPr>
          <a:xfrm>
            <a:off x="2880360" y="3566160"/>
            <a:ext cx="2240280" cy="1005840"/>
          </a:xfrm>
          <a:prstGeom prst="roundRect">
            <a:avLst>
              <a:gd name="adj" fmla="val 9091"/>
            </a:avLst>
          </a:prstGeom>
          <a:solidFill>
            <a:schemeClr val="accent1"/>
          </a:solidFill>
          <a:ln w="12700">
            <a:solidFill>
              <a:schemeClr val="accent1"/>
            </a:solidFill>
          </a:ln>
        </p:spPr>
        <p:txBody>
          <a:bodyPr wrap="square" lIns="50800" tIns="50800" rIns="50800" bIns="50800" rtlCol="0" anchor="ctr"/>
          <a:lstStyle/>
          <a:p>
            <a:pPr marL="0" indent="0" algn="ctr">
              <a:buNone/>
            </a:pPr>
            <a:endParaRPr lang="en-US" sz="1200" dirty="0"/>
          </a:p>
        </p:txBody>
      </p:sp>
      <p:sp>
        <p:nvSpPr>
          <p:cNvPr id="19" name="Text 17"/>
          <p:cNvSpPr txBox="1"/>
          <p:nvPr/>
        </p:nvSpPr>
        <p:spPr>
          <a:xfrm>
            <a:off x="3017520" y="3703320"/>
            <a:ext cx="1965960" cy="274320"/>
          </a:xfrm>
          <a:prstGeom prst="rect">
            <a:avLst/>
          </a:prstGeom>
          <a:noFill/>
          <a:ln/>
        </p:spPr>
        <p:txBody>
          <a:bodyPr wrap="square" lIns="0" tIns="0" rIns="0" bIns="0" rtlCol="0" anchor="t"/>
          <a:lstStyle/>
          <a:p>
            <a:pPr marL="0" indent="0" algn="l">
              <a:buNone/>
            </a:pPr>
            <a:r>
              <a:rPr lang="en-US" sz="1400" b="1" dirty="0">
                <a:solidFill>
                  <a:schemeClr val="tx1"/>
                </a:solidFill>
              </a:rPr>
              <a:t>Tour planning</a:t>
            </a:r>
            <a:endParaRPr lang="en-US" sz="1400" dirty="0"/>
          </a:p>
        </p:txBody>
      </p:sp>
      <p:sp>
        <p:nvSpPr>
          <p:cNvPr id="20" name="Text 18"/>
          <p:cNvSpPr txBox="1"/>
          <p:nvPr/>
        </p:nvSpPr>
        <p:spPr>
          <a:xfrm>
            <a:off x="3017520" y="4041648"/>
            <a:ext cx="1965960" cy="457200"/>
          </a:xfrm>
          <a:prstGeom prst="rect">
            <a:avLst/>
          </a:prstGeom>
          <a:noFill/>
          <a:ln/>
        </p:spPr>
        <p:txBody>
          <a:bodyPr wrap="square" lIns="0" tIns="0" rIns="0" bIns="0" rtlCol="0" anchor="t"/>
          <a:lstStyle/>
          <a:p>
            <a:pPr marL="0" indent="0" algn="l">
              <a:buNone/>
            </a:pPr>
            <a:r>
              <a:rPr lang="en-US" sz="1300" dirty="0">
                <a:solidFill>
                  <a:schemeClr val="tx1"/>
                </a:solidFill>
              </a:rPr>
              <a:t>Multi-city travel itineraries</a:t>
            </a:r>
            <a:endParaRPr lang="en-US" sz="1300" dirty="0"/>
          </a:p>
        </p:txBody>
      </p:sp>
      <p:sp>
        <p:nvSpPr>
          <p:cNvPr id="21" name="Text 19"/>
          <p:cNvSpPr txBox="1"/>
          <p:nvPr/>
        </p:nvSpPr>
        <p:spPr>
          <a:xfrm>
            <a:off x="5394960" y="1280160"/>
            <a:ext cx="3291840" cy="3291840"/>
          </a:xfrm>
          <a:prstGeom prst="roundRect">
            <a:avLst>
              <a:gd name="adj" fmla="val 2778"/>
            </a:avLst>
          </a:prstGeom>
          <a:solidFill>
            <a:schemeClr val="accent3"/>
          </a:solidFill>
          <a:ln w="12700">
            <a:solidFill>
              <a:schemeClr val="accent6"/>
            </a:solidFill>
          </a:ln>
        </p:spPr>
        <p:txBody>
          <a:bodyPr wrap="square" lIns="50800" tIns="50800" rIns="50800" bIns="50800" rtlCol="0" anchor="ctr"/>
          <a:lstStyle/>
          <a:p>
            <a:pPr marL="0" indent="0" algn="ctr">
              <a:buNone/>
            </a:pPr>
            <a:endParaRPr lang="en-US" sz="1200" dirty="0"/>
          </a:p>
        </p:txBody>
      </p:sp>
      <p:sp>
        <p:nvSpPr>
          <p:cNvPr id="22" name="Text 20"/>
          <p:cNvSpPr txBox="1"/>
          <p:nvPr/>
        </p:nvSpPr>
        <p:spPr>
          <a:xfrm>
            <a:off x="5577840" y="1417320"/>
            <a:ext cx="2926080" cy="365760"/>
          </a:xfrm>
          <a:prstGeom prst="rect">
            <a:avLst/>
          </a:prstGeom>
          <a:noFill/>
          <a:ln/>
        </p:spPr>
        <p:txBody>
          <a:bodyPr wrap="square" lIns="0" tIns="0" rIns="0" bIns="0" rtlCol="0" anchor="t"/>
          <a:lstStyle/>
          <a:p>
            <a:pPr marL="0" indent="0" algn="l">
              <a:buNone/>
            </a:pPr>
            <a:r>
              <a:rPr lang="en-US" sz="2000" b="1" dirty="0">
                <a:solidFill>
                  <a:schemeClr val="tx1"/>
                </a:solidFill>
                <a:latin typeface="Cambria" pitchFamily="34" charset="0"/>
                <a:ea typeface="Cambria" pitchFamily="34" charset="-122"/>
                <a:cs typeface="Cambria" pitchFamily="34" charset="-120"/>
              </a:rPr>
              <a:t>Conclusion</a:t>
            </a:r>
            <a:endParaRPr lang="en-US" sz="2000" dirty="0"/>
          </a:p>
        </p:txBody>
      </p:sp>
      <p:sp>
        <p:nvSpPr>
          <p:cNvPr id="23" name="Text 21"/>
          <p:cNvSpPr txBox="1"/>
          <p:nvPr/>
        </p:nvSpPr>
        <p:spPr>
          <a:xfrm>
            <a:off x="5577840" y="1874520"/>
            <a:ext cx="2926080" cy="26060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TSP finds the cheapest Hamiltonian cycle in a weighted graph.</a:t>
            </a:r>
            <a:endParaRPr lang="en-US" sz="1400" dirty="0"/>
          </a:p>
          <a:p>
            <a:pPr marL="342900" indent="-342900">
              <a:spcAft>
                <a:spcPts val="800"/>
              </a:spcAft>
              <a:buSzPct val="100000"/>
              <a:buChar char="•"/>
            </a:pPr>
            <a:r>
              <a:rPr lang="en-US" sz="1400" dirty="0">
                <a:solidFill>
                  <a:schemeClr val="tx1"/>
                </a:solidFill>
              </a:rPr>
              <a:t>Our 4-city example: optimum A→B→D→C→A costs 80 km.</a:t>
            </a:r>
            <a:endParaRPr lang="en-US" sz="1400" dirty="0"/>
          </a:p>
          <a:p>
            <a:pPr marL="342900" indent="-342900">
              <a:spcAft>
                <a:spcPts val="800"/>
              </a:spcAft>
              <a:buSzPct val="100000"/>
              <a:buChar char="•"/>
            </a:pPr>
            <a:r>
              <a:rPr lang="en-US" sz="1400" dirty="0">
                <a:solidFill>
                  <a:schemeClr val="tx1"/>
                </a:solidFill>
              </a:rPr>
              <a:t>Brute force is O((n−1)!); Held–Karp improves it to O(n²·2^n).</a:t>
            </a:r>
            <a:endParaRPr lang="en-US" sz="1400" dirty="0"/>
          </a:p>
          <a:p>
            <a:pPr marL="342900" indent="-342900">
              <a:spcAft>
                <a:spcPts val="800"/>
              </a:spcAft>
              <a:buSzPct val="100000"/>
              <a:buChar char="•"/>
            </a:pPr>
            <a:r>
              <a:rPr lang="en-US" sz="1400" dirty="0">
                <a:solidFill>
                  <a:schemeClr val="tx1"/>
                </a:solidFill>
              </a:rPr>
              <a:t>Heuristics trade optimality for speed on large inputs.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822960"/>
            <a:ext cx="4389120" cy="2103120"/>
          </a:xfrm>
          <a:prstGeom prst="rect">
            <a:avLst/>
          </a:prstGeom>
          <a:noFill/>
          <a:ln/>
        </p:spPr>
        <p:txBody>
          <a:bodyPr wrap="square" lIns="0" tIns="0" rIns="0" bIns="0" rtlCol="0" anchor="b"/>
          <a:lstStyle/>
          <a:p>
            <a:pPr marL="0" indent="0" algn="l">
              <a:buNone/>
            </a:pPr>
            <a:r>
              <a:rPr lang="en-US" sz="4000" b="1" dirty="0">
                <a:solidFill>
                  <a:schemeClr val="tx1"/>
                </a:solidFill>
              </a:rPr>
              <a:t>Thank You</a:t>
            </a:r>
            <a:endParaRPr lang="en-US" sz="4000" dirty="0"/>
          </a:p>
        </p:txBody>
      </p:sp>
      <p:sp>
        <p:nvSpPr>
          <p:cNvPr id="3" name="Text 1"/>
          <p:cNvSpPr/>
          <p:nvPr/>
        </p:nvSpPr>
        <p:spPr>
          <a:xfrm>
            <a:off x="548640" y="3108960"/>
            <a:ext cx="4389120" cy="457200"/>
          </a:xfrm>
          <a:prstGeom prst="rect">
            <a:avLst/>
          </a:prstGeom>
          <a:noFill/>
          <a:ln/>
        </p:spPr>
        <p:txBody>
          <a:bodyPr wrap="square" lIns="0" tIns="0" rIns="0" bIns="0" rtlCol="0" anchor="t"/>
          <a:lstStyle/>
          <a:p>
            <a:pPr marL="0" indent="0" algn="l">
              <a:buNone/>
            </a:pPr>
            <a:endParaRPr lang="en-US" sz="1800" dirty="0"/>
          </a:p>
        </p:txBody>
      </p:sp>
      <p:sp>
        <p:nvSpPr>
          <p:cNvPr id="4" name="Text 2"/>
          <p:cNvSpPr txBox="1"/>
          <p:nvPr/>
        </p:nvSpPr>
        <p:spPr>
          <a:xfrm>
            <a:off x="548640" y="3840480"/>
            <a:ext cx="4389120" cy="777240"/>
          </a:xfrm>
          <a:prstGeom prst="rect">
            <a:avLst/>
          </a:prstGeom>
          <a:noFill/>
          <a:ln/>
        </p:spPr>
        <p:txBody>
          <a:bodyPr wrap="square" lIns="0" tIns="0" rIns="0" bIns="0" rtlCol="0" anchor="t"/>
          <a:lstStyle/>
          <a:p>
            <a:pPr marL="0" indent="0" algn="l">
              <a:buNone/>
            </a:pPr>
            <a:endParaRPr lang="en-US" sz="1100" dirty="0"/>
          </a:p>
        </p:txBody>
      </p:sp>
      <p:sp>
        <p:nvSpPr>
          <p:cNvPr id="5" name="Shape 3"/>
          <p:cNvSpPr/>
          <p:nvPr/>
        </p:nvSpPr>
        <p:spPr>
          <a:xfrm>
            <a:off x="6949440" y="1005840"/>
            <a:ext cx="1478398" cy="1074119"/>
          </a:xfrm>
          <a:prstGeom prst="line">
            <a:avLst/>
          </a:prstGeom>
          <a:noFill/>
          <a:ln w="15875">
            <a:solidFill>
              <a:schemeClr val="accent1"/>
            </a:solidFill>
            <a:prstDash val="solid"/>
          </a:ln>
        </p:spPr>
      </p:sp>
      <p:sp>
        <p:nvSpPr>
          <p:cNvPr id="6" name="Shape 4"/>
          <p:cNvSpPr/>
          <p:nvPr/>
        </p:nvSpPr>
        <p:spPr>
          <a:xfrm>
            <a:off x="6949440" y="1005840"/>
            <a:ext cx="913700" cy="2812081"/>
          </a:xfrm>
          <a:prstGeom prst="line">
            <a:avLst/>
          </a:prstGeom>
          <a:noFill/>
          <a:ln w="15875">
            <a:solidFill>
              <a:schemeClr val="accent1"/>
            </a:solidFill>
            <a:prstDash val="solid"/>
          </a:ln>
        </p:spPr>
      </p:sp>
      <p:sp>
        <p:nvSpPr>
          <p:cNvPr id="7" name="Shape 5"/>
          <p:cNvSpPr/>
          <p:nvPr/>
        </p:nvSpPr>
        <p:spPr>
          <a:xfrm flipH="1">
            <a:off x="6035740" y="1005840"/>
            <a:ext cx="913700" cy="2812081"/>
          </a:xfrm>
          <a:prstGeom prst="line">
            <a:avLst/>
          </a:prstGeom>
          <a:noFill/>
          <a:ln w="15875">
            <a:solidFill>
              <a:schemeClr val="accent1"/>
            </a:solidFill>
            <a:prstDash val="solid"/>
          </a:ln>
        </p:spPr>
      </p:sp>
      <p:sp>
        <p:nvSpPr>
          <p:cNvPr id="8" name="Shape 6"/>
          <p:cNvSpPr/>
          <p:nvPr/>
        </p:nvSpPr>
        <p:spPr>
          <a:xfrm flipH="1">
            <a:off x="5471042" y="1005840"/>
            <a:ext cx="1478398" cy="1074119"/>
          </a:xfrm>
          <a:prstGeom prst="line">
            <a:avLst/>
          </a:prstGeom>
          <a:noFill/>
          <a:ln w="15875">
            <a:solidFill>
              <a:schemeClr val="accent1"/>
            </a:solidFill>
            <a:prstDash val="solid"/>
          </a:ln>
        </p:spPr>
      </p:sp>
      <p:sp>
        <p:nvSpPr>
          <p:cNvPr id="9" name="Shape 7"/>
          <p:cNvSpPr/>
          <p:nvPr/>
        </p:nvSpPr>
        <p:spPr>
          <a:xfrm flipH="1">
            <a:off x="7863140" y="2079959"/>
            <a:ext cx="564698" cy="1737961"/>
          </a:xfrm>
          <a:prstGeom prst="line">
            <a:avLst/>
          </a:prstGeom>
          <a:noFill/>
          <a:ln w="15875">
            <a:solidFill>
              <a:schemeClr val="accent1"/>
            </a:solidFill>
            <a:prstDash val="solid"/>
          </a:ln>
        </p:spPr>
      </p:sp>
      <p:sp>
        <p:nvSpPr>
          <p:cNvPr id="10" name="Shape 8"/>
          <p:cNvSpPr/>
          <p:nvPr/>
        </p:nvSpPr>
        <p:spPr>
          <a:xfrm flipH="1">
            <a:off x="6035740" y="2079959"/>
            <a:ext cx="2392099" cy="1737961"/>
          </a:xfrm>
          <a:prstGeom prst="line">
            <a:avLst/>
          </a:prstGeom>
          <a:noFill/>
          <a:ln w="15875">
            <a:solidFill>
              <a:schemeClr val="accent1"/>
            </a:solidFill>
            <a:prstDash val="solid"/>
          </a:ln>
        </p:spPr>
      </p:sp>
      <p:sp>
        <p:nvSpPr>
          <p:cNvPr id="11" name="Shape 9"/>
          <p:cNvSpPr/>
          <p:nvPr/>
        </p:nvSpPr>
        <p:spPr>
          <a:xfrm flipH="1" flipV="1">
            <a:off x="5471042" y="2079959"/>
            <a:ext cx="2956797" cy="0"/>
          </a:xfrm>
          <a:prstGeom prst="line">
            <a:avLst/>
          </a:prstGeom>
          <a:noFill/>
          <a:ln w="15875">
            <a:solidFill>
              <a:schemeClr val="accent1"/>
            </a:solidFill>
            <a:prstDash val="solid"/>
          </a:ln>
        </p:spPr>
      </p:sp>
      <p:sp>
        <p:nvSpPr>
          <p:cNvPr id="12" name="Shape 10"/>
          <p:cNvSpPr/>
          <p:nvPr/>
        </p:nvSpPr>
        <p:spPr>
          <a:xfrm flipH="1">
            <a:off x="6035740" y="3817921"/>
            <a:ext cx="1827401" cy="0"/>
          </a:xfrm>
          <a:prstGeom prst="line">
            <a:avLst/>
          </a:prstGeom>
          <a:noFill/>
          <a:ln w="15875">
            <a:solidFill>
              <a:schemeClr val="accent1"/>
            </a:solidFill>
            <a:prstDash val="solid"/>
          </a:ln>
        </p:spPr>
      </p:sp>
      <p:sp>
        <p:nvSpPr>
          <p:cNvPr id="13" name="Shape 11"/>
          <p:cNvSpPr/>
          <p:nvPr/>
        </p:nvSpPr>
        <p:spPr>
          <a:xfrm flipH="1" flipV="1">
            <a:off x="5471042" y="2079959"/>
            <a:ext cx="2392099" cy="1737961"/>
          </a:xfrm>
          <a:prstGeom prst="line">
            <a:avLst/>
          </a:prstGeom>
          <a:noFill/>
          <a:ln w="15875">
            <a:solidFill>
              <a:schemeClr val="accent1"/>
            </a:solidFill>
            <a:prstDash val="solid"/>
          </a:ln>
        </p:spPr>
      </p:sp>
      <p:sp>
        <p:nvSpPr>
          <p:cNvPr id="14" name="Shape 12"/>
          <p:cNvSpPr/>
          <p:nvPr/>
        </p:nvSpPr>
        <p:spPr>
          <a:xfrm flipH="1" flipV="1">
            <a:off x="5471042" y="2079959"/>
            <a:ext cx="564698" cy="1737961"/>
          </a:xfrm>
          <a:prstGeom prst="line">
            <a:avLst/>
          </a:prstGeom>
          <a:noFill/>
          <a:ln w="15875">
            <a:solidFill>
              <a:schemeClr val="accent1"/>
            </a:solidFill>
            <a:prstDash val="solid"/>
          </a:ln>
        </p:spPr>
      </p:sp>
      <p:sp>
        <p:nvSpPr>
          <p:cNvPr id="15" name="Shape 13"/>
          <p:cNvSpPr/>
          <p:nvPr/>
        </p:nvSpPr>
        <p:spPr>
          <a:xfrm>
            <a:off x="6949440" y="1005840"/>
            <a:ext cx="1478398" cy="1074119"/>
          </a:xfrm>
          <a:prstGeom prst="line">
            <a:avLst/>
          </a:prstGeom>
          <a:noFill/>
          <a:ln w="44450">
            <a:solidFill>
              <a:schemeClr val="accent5"/>
            </a:solidFill>
            <a:prstDash val="solid"/>
          </a:ln>
        </p:spPr>
      </p:sp>
      <p:sp>
        <p:nvSpPr>
          <p:cNvPr id="16" name="Shape 14"/>
          <p:cNvSpPr/>
          <p:nvPr/>
        </p:nvSpPr>
        <p:spPr>
          <a:xfrm flipH="1">
            <a:off x="7863140" y="2079959"/>
            <a:ext cx="564698" cy="1737961"/>
          </a:xfrm>
          <a:prstGeom prst="line">
            <a:avLst/>
          </a:prstGeom>
          <a:noFill/>
          <a:ln w="44450">
            <a:solidFill>
              <a:schemeClr val="accent5"/>
            </a:solidFill>
            <a:prstDash val="solid"/>
          </a:ln>
        </p:spPr>
      </p:sp>
      <p:sp>
        <p:nvSpPr>
          <p:cNvPr id="17" name="Shape 15"/>
          <p:cNvSpPr/>
          <p:nvPr/>
        </p:nvSpPr>
        <p:spPr>
          <a:xfrm flipH="1">
            <a:off x="6035740" y="3817921"/>
            <a:ext cx="1827401" cy="0"/>
          </a:xfrm>
          <a:prstGeom prst="line">
            <a:avLst/>
          </a:prstGeom>
          <a:noFill/>
          <a:ln w="44450">
            <a:solidFill>
              <a:schemeClr val="accent5"/>
            </a:solidFill>
            <a:prstDash val="solid"/>
          </a:ln>
        </p:spPr>
      </p:sp>
      <p:sp>
        <p:nvSpPr>
          <p:cNvPr id="18" name="Shape 16"/>
          <p:cNvSpPr/>
          <p:nvPr/>
        </p:nvSpPr>
        <p:spPr>
          <a:xfrm flipH="1" flipV="1">
            <a:off x="5471042" y="2079959"/>
            <a:ext cx="564698" cy="1737961"/>
          </a:xfrm>
          <a:prstGeom prst="line">
            <a:avLst/>
          </a:prstGeom>
          <a:noFill/>
          <a:ln w="44450">
            <a:solidFill>
              <a:schemeClr val="accent5"/>
            </a:solidFill>
            <a:prstDash val="solid"/>
          </a:ln>
        </p:spPr>
      </p:sp>
      <p:sp>
        <p:nvSpPr>
          <p:cNvPr id="19" name="Shape 17"/>
          <p:cNvSpPr/>
          <p:nvPr/>
        </p:nvSpPr>
        <p:spPr>
          <a:xfrm flipV="1">
            <a:off x="5471042" y="1005840"/>
            <a:ext cx="1478398" cy="1074119"/>
          </a:xfrm>
          <a:prstGeom prst="line">
            <a:avLst/>
          </a:prstGeom>
          <a:noFill/>
          <a:ln w="44450">
            <a:solidFill>
              <a:schemeClr val="accent5"/>
            </a:solidFill>
            <a:prstDash val="solid"/>
          </a:ln>
        </p:spPr>
      </p:sp>
      <p:sp>
        <p:nvSpPr>
          <p:cNvPr id="20" name="Text 18"/>
          <p:cNvSpPr txBox="1"/>
          <p:nvPr/>
        </p:nvSpPr>
        <p:spPr>
          <a:xfrm>
            <a:off x="6675120" y="731520"/>
            <a:ext cx="548640" cy="548640"/>
          </a:xfrm>
          <a:prstGeom prst="ellipse">
            <a:avLst/>
          </a:prstGeom>
          <a:solidFill>
            <a:schemeClr val="accent3"/>
          </a:solidFill>
          <a:ln w="22225">
            <a:solidFill>
              <a:schemeClr val="tx1"/>
            </a:solidFill>
          </a:ln>
        </p:spPr>
        <p:txBody>
          <a:bodyPr wrap="square" lIns="0" tIns="0" rIns="0" bIns="0" rtlCol="0" anchor="ctr"/>
          <a:lstStyle/>
          <a:p>
            <a:pPr marL="0" indent="0" algn="ctr">
              <a:buNone/>
            </a:pPr>
            <a:r>
              <a:rPr lang="en-US" sz="1600" b="1" dirty="0">
                <a:solidFill>
                  <a:schemeClr val="tx1"/>
                </a:solidFill>
              </a:rPr>
              <a:t>A</a:t>
            </a:r>
            <a:endParaRPr lang="en-US" sz="1600" dirty="0"/>
          </a:p>
        </p:txBody>
      </p:sp>
      <p:sp>
        <p:nvSpPr>
          <p:cNvPr id="21" name="Text 19"/>
          <p:cNvSpPr txBox="1"/>
          <p:nvPr/>
        </p:nvSpPr>
        <p:spPr>
          <a:xfrm>
            <a:off x="8153518" y="1805639"/>
            <a:ext cx="548640" cy="548640"/>
          </a:xfrm>
          <a:prstGeom prst="ellipse">
            <a:avLst/>
          </a:prstGeom>
          <a:solidFill>
            <a:schemeClr val="accent1"/>
          </a:solidFill>
          <a:ln w="22225">
            <a:solidFill>
              <a:schemeClr val="tx1"/>
            </a:solidFill>
          </a:ln>
        </p:spPr>
        <p:txBody>
          <a:bodyPr wrap="square" lIns="0" tIns="0" rIns="0" bIns="0" rtlCol="0" anchor="ctr"/>
          <a:lstStyle/>
          <a:p>
            <a:pPr marL="0" indent="0" algn="ctr">
              <a:buNone/>
            </a:pPr>
            <a:r>
              <a:rPr lang="en-US" sz="1600" b="1" dirty="0">
                <a:solidFill>
                  <a:schemeClr val="tx1"/>
                </a:solidFill>
              </a:rPr>
              <a:t>B</a:t>
            </a:r>
            <a:endParaRPr lang="en-US" sz="1600" dirty="0"/>
          </a:p>
        </p:txBody>
      </p:sp>
      <p:sp>
        <p:nvSpPr>
          <p:cNvPr id="22" name="Text 20"/>
          <p:cNvSpPr txBox="1"/>
          <p:nvPr/>
        </p:nvSpPr>
        <p:spPr>
          <a:xfrm>
            <a:off x="7588820" y="3543601"/>
            <a:ext cx="548640" cy="548640"/>
          </a:xfrm>
          <a:prstGeom prst="ellipse">
            <a:avLst/>
          </a:prstGeom>
          <a:solidFill>
            <a:schemeClr val="accent2"/>
          </a:solidFill>
          <a:ln w="22225">
            <a:solidFill>
              <a:schemeClr val="tx1"/>
            </a:solidFill>
          </a:ln>
        </p:spPr>
        <p:txBody>
          <a:bodyPr wrap="square" lIns="0" tIns="0" rIns="0" bIns="0" rtlCol="0" anchor="ctr"/>
          <a:lstStyle/>
          <a:p>
            <a:pPr marL="0" indent="0" algn="ctr">
              <a:buNone/>
            </a:pPr>
            <a:r>
              <a:rPr lang="en-US" sz="1600" b="1" dirty="0">
                <a:solidFill>
                  <a:schemeClr val="tx1"/>
                </a:solidFill>
              </a:rPr>
              <a:t>C</a:t>
            </a:r>
            <a:endParaRPr lang="en-US" sz="1600" dirty="0"/>
          </a:p>
        </p:txBody>
      </p:sp>
      <p:sp>
        <p:nvSpPr>
          <p:cNvPr id="23" name="Text 21"/>
          <p:cNvSpPr txBox="1"/>
          <p:nvPr/>
        </p:nvSpPr>
        <p:spPr>
          <a:xfrm>
            <a:off x="5761420" y="3543601"/>
            <a:ext cx="548640" cy="548640"/>
          </a:xfrm>
          <a:prstGeom prst="ellipse">
            <a:avLst/>
          </a:prstGeom>
          <a:solidFill>
            <a:schemeClr val="accent1"/>
          </a:solidFill>
          <a:ln w="22225">
            <a:solidFill>
              <a:schemeClr val="tx1"/>
            </a:solidFill>
          </a:ln>
        </p:spPr>
        <p:txBody>
          <a:bodyPr wrap="square" lIns="0" tIns="0" rIns="0" bIns="0" rtlCol="0" anchor="ctr"/>
          <a:lstStyle/>
          <a:p>
            <a:pPr marL="0" indent="0" algn="ctr">
              <a:buNone/>
            </a:pPr>
            <a:r>
              <a:rPr lang="en-US" sz="1600" b="1" dirty="0">
                <a:solidFill>
                  <a:schemeClr val="tx1"/>
                </a:solidFill>
              </a:rPr>
              <a:t>D</a:t>
            </a:r>
            <a:endParaRPr lang="en-US" sz="1600" dirty="0"/>
          </a:p>
        </p:txBody>
      </p:sp>
      <p:sp>
        <p:nvSpPr>
          <p:cNvPr id="24" name="Text 22"/>
          <p:cNvSpPr txBox="1"/>
          <p:nvPr/>
        </p:nvSpPr>
        <p:spPr>
          <a:xfrm>
            <a:off x="5196722" y="1805639"/>
            <a:ext cx="548640" cy="548640"/>
          </a:xfrm>
          <a:prstGeom prst="ellipse">
            <a:avLst/>
          </a:prstGeom>
          <a:solidFill>
            <a:schemeClr val="accent2"/>
          </a:solidFill>
          <a:ln w="22225">
            <a:solidFill>
              <a:schemeClr val="tx1"/>
            </a:solidFill>
          </a:ln>
        </p:spPr>
        <p:txBody>
          <a:bodyPr wrap="square" lIns="0" tIns="0" rIns="0" bIns="0" rtlCol="0" anchor="ctr"/>
          <a:lstStyle/>
          <a:p>
            <a:pPr marL="0" indent="0" algn="ctr">
              <a:buNone/>
            </a:pPr>
            <a:r>
              <a:rPr lang="en-US" sz="1600" b="1" dirty="0">
                <a:solidFill>
                  <a:schemeClr val="tx1"/>
                </a:solidFill>
              </a:rPr>
              <a:t>E</a:t>
            </a:r>
            <a:endParaRPr lang="en-US" sz="1600" dirty="0"/>
          </a:p>
        </p:txBody>
      </p:sp>
    </p:spTree>
  </p:cSld>
  <p:clrMapOvr>
    <a:masterClrMapping/>
  </p:clrMapOvr>
</p:sld>
</file>

<file path=ppt/theme/theme1.xml><?xml version="1.0" encoding="utf-8"?>
<a:theme xmlns:a="http://schemas.openxmlformats.org/drawingml/2006/main" name="TSP Sober Pastel">
  <a:themeElements>
    <a:clrScheme name="TSP Sober Pastel">
      <a:dk1>
        <a:srgbClr val="1F2A44"/>
      </a:dk1>
      <a:lt1>
        <a:srgbClr val="FAF6EE"/>
      </a:lt1>
      <a:dk2>
        <a:srgbClr val="3E4C6E"/>
      </a:dk2>
      <a:lt2>
        <a:srgbClr val="EFE9DC"/>
      </a:lt2>
      <a:accent1>
        <a:srgbClr val="BFD7EA"/>
      </a:accent1>
      <a:accent2>
        <a:srgbClr val="B9D3B6"/>
      </a:accent2>
      <a:accent3>
        <a:srgbClr val="D9D0EC"/>
      </a:accent3>
      <a:accent4>
        <a:srgbClr val="5F8DB5"/>
      </a:accent4>
      <a:accent5>
        <a:srgbClr val="5E8761"/>
      </a:accent5>
      <a:accent6>
        <a:srgbClr val="7D6FA8"/>
      </a:accent6>
      <a:hlink>
        <a:srgbClr val="3E6FA0"/>
      </a:hlink>
      <a:folHlink>
        <a:srgbClr val="7D6FA8"/>
      </a:folHlink>
    </a:clrScheme>
    <a:fontScheme name="TSP Sober Paste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1721</Words>
  <Application>Microsoft Office PowerPoint</Application>
  <PresentationFormat>On-screen Show (16:9)</PresentationFormat>
  <Paragraphs>244</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Cambria</vt:lpstr>
      <vt:lpstr>Courier New</vt:lpstr>
      <vt:lpstr>TSP Sober Pastel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Travelling Salesman Problem - DAA</dc:title>
  <dc:subject>PptxGenJS Presentation</dc:subject>
  <dc:creator>PptxGenJS</dc:creator>
  <cp:lastModifiedBy>Angad Mankar</cp:lastModifiedBy>
  <cp:revision>3</cp:revision>
  <dcterms:created xsi:type="dcterms:W3CDTF">2026-10-20T09:00:04Z</dcterms:created>
  <dcterms:modified xsi:type="dcterms:W3CDTF">2026-10-20T13:11:06Z</dcterms:modified>
</cp:coreProperties>
</file>